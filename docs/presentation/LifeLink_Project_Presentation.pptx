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784080" y="-1463040"/>
            <a:ext cx="4572000" cy="4572000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389120"/>
            <a:ext cx="3840480" cy="3840480"/>
          </a:xfrm>
          <a:prstGeom prst="ellipse">
            <a:avLst/>
          </a:prstGeom>
          <a:solidFill>
            <a:srgbClr val="2440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548640"/>
            <a:ext cx="2011680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02920" y="566928"/>
            <a:ext cx="502920" cy="502920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Segoe UI"/>
              </a:rPr>
              <a:t>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603504"/>
            <a:ext cx="2743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Segoe UI"/>
              </a:rPr>
              <a:t>LifeLink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31720"/>
            <a:ext cx="10058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 i="0">
                <a:solidFill>
                  <a:srgbClr val="FFFFFF"/>
                </a:solidFill>
                <a:latin typeface="Segoe UI"/>
              </a:rPr>
              <a:t>LifeLink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246120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06B6D4"/>
                </a:solidFill>
                <a:latin typeface="Segoe UI"/>
              </a:rPr>
              <a:t>AI-Based Blood Donor Management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3886200"/>
            <a:ext cx="9875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C7D2FE"/>
                </a:solidFill>
                <a:latin typeface="Segoe UI"/>
              </a:rPr>
              <a:t>Donor Eligibility Prediction  •  AI-Assisted Donor Matching  •  Blood Demand Forecasting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4526280"/>
            <a:ext cx="1463040" cy="41148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480060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FFFFFF"/>
                </a:solidFill>
                <a:latin typeface="Segoe UI"/>
              </a:rPr>
              <a:t>BSc (Hons) Software Engineering — Final Year Project Presentation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516636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C7D2FE"/>
                </a:solidFill>
                <a:latin typeface="Segoe UI"/>
              </a:rPr>
              <a:t>Tharsika Kailayapathy  |  Student ID: JF/BSCSD/18/43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5806440"/>
            <a:ext cx="1097280" cy="457200"/>
          </a:xfrm>
          <a:prstGeom prst="roundRect">
            <a:avLst>
              <a:gd name="adj" fmla="val 50000"/>
            </a:avLst>
          </a:prstGeom>
          <a:solidFill>
            <a:srgbClr val="2746A8"/>
          </a:solidFill>
          <a:ln w="9525">
            <a:solidFill>
              <a:srgbClr val="3B5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5806440"/>
            <a:ext cx="1097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Segoe UI"/>
              </a:rPr>
              <a:t>Laravel 12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65376" y="5806440"/>
            <a:ext cx="1634947" cy="457200"/>
          </a:xfrm>
          <a:prstGeom prst="roundRect">
            <a:avLst>
              <a:gd name="adj" fmla="val 50000"/>
            </a:avLst>
          </a:prstGeom>
          <a:solidFill>
            <a:srgbClr val="2746A8"/>
          </a:solidFill>
          <a:ln w="9525">
            <a:solidFill>
              <a:srgbClr val="3B5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65376" y="5806440"/>
            <a:ext cx="163494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Segoe UI"/>
              </a:rPr>
              <a:t>Python / FastAPI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01491" y="5806440"/>
            <a:ext cx="1186891" cy="457200"/>
          </a:xfrm>
          <a:prstGeom prst="roundRect">
            <a:avLst>
              <a:gd name="adj" fmla="val 50000"/>
            </a:avLst>
          </a:prstGeom>
          <a:solidFill>
            <a:srgbClr val="2746A8"/>
          </a:solidFill>
          <a:ln w="9525">
            <a:solidFill>
              <a:srgbClr val="3B5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01491" y="5806440"/>
            <a:ext cx="1186891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Segoe UI"/>
              </a:rPr>
              <a:t>6 ML Models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89550" y="5806440"/>
            <a:ext cx="2351836" cy="457200"/>
          </a:xfrm>
          <a:prstGeom prst="roundRect">
            <a:avLst>
              <a:gd name="adj" fmla="val 50000"/>
            </a:avLst>
          </a:prstGeom>
          <a:solidFill>
            <a:srgbClr val="2746A8"/>
          </a:solidFill>
          <a:ln w="9525">
            <a:solidFill>
              <a:srgbClr val="3B5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89550" y="5806440"/>
            <a:ext cx="235183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Segoe UI"/>
              </a:rPr>
              <a:t>Donor • Hospital • Admin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1148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6B6D4"/>
                </a:solidFill>
                <a:latin typeface="Segoe UI"/>
              </a:rPr>
              <a:t>THE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Segoe UI"/>
              </a:rPr>
              <a:t>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65760"/>
            <a:ext cx="685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C7D2FE"/>
                </a:solidFill>
                <a:latin typeface="Segoe UI"/>
              </a:rPr>
              <a:t>02 /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17320"/>
            <a:ext cx="704088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800"/>
              </a:spcAft>
            </a:pPr>
            <a:r>
              <a:rPr sz="1550" b="1">
                <a:solidFill>
                  <a:srgbClr val="1D4ED8"/>
                </a:solidFill>
                <a:latin typeface="Segoe UI"/>
              </a:rPr>
              <a:t>•  </a:t>
            </a:r>
            <a:r>
              <a:rPr sz="1550" b="1">
                <a:solidFill>
                  <a:srgbClr val="0F172A"/>
                </a:solidFill>
                <a:latin typeface="Segoe UI"/>
              </a:rPr>
              <a:t>No real-time donor search. </a:t>
            </a:r>
            <a:r>
              <a:rPr sz="1550" b="0">
                <a:solidFill>
                  <a:srgbClr val="0F172A"/>
                </a:solidFill>
                <a:latin typeface="Segoe UI"/>
              </a:rPr>
              <a:t>Donor records live in registers or spreadsheets — no shared system to search by blood group, location, or current eligibility.</a:t>
            </a:r>
          </a:p>
          <a:p>
            <a:pPr>
              <a:lnSpc>
                <a:spcPct val="108000"/>
              </a:lnSpc>
              <a:spcAft>
                <a:spcPts val="1800"/>
              </a:spcAft>
            </a:pPr>
            <a:r>
              <a:rPr sz="1550" b="1">
                <a:solidFill>
                  <a:srgbClr val="1D4ED8"/>
                </a:solidFill>
                <a:latin typeface="Segoe UI"/>
              </a:rPr>
              <a:t>•  </a:t>
            </a:r>
            <a:r>
              <a:rPr sz="1550" b="1">
                <a:solidFill>
                  <a:srgbClr val="0F172A"/>
                </a:solidFill>
                <a:latin typeface="Segoe UI"/>
              </a:rPr>
              <a:t>Manual, slow emergency coordination. </a:t>
            </a:r>
            <a:r>
              <a:rPr sz="1550" b="0">
                <a:solidFill>
                  <a:srgbClr val="0F172A"/>
                </a:solidFill>
                <a:latin typeface="Segoe UI"/>
              </a:rPr>
              <a:t>Hospitals rely on phone calls and social media to find compatible donors, especially for rarer groups like AB− or O−.</a:t>
            </a:r>
          </a:p>
          <a:p>
            <a:pPr>
              <a:lnSpc>
                <a:spcPct val="108000"/>
              </a:lnSpc>
              <a:spcAft>
                <a:spcPts val="1800"/>
              </a:spcAft>
            </a:pPr>
            <a:r>
              <a:rPr sz="1550" b="1">
                <a:solidFill>
                  <a:srgbClr val="1D4ED8"/>
                </a:solidFill>
                <a:latin typeface="Segoe UI"/>
              </a:rPr>
              <a:t>•  </a:t>
            </a:r>
            <a:r>
              <a:rPr sz="1550" b="1">
                <a:solidFill>
                  <a:srgbClr val="0F172A"/>
                </a:solidFill>
                <a:latin typeface="Segoe UI"/>
              </a:rPr>
              <a:t>Reactive stock management. </a:t>
            </a:r>
            <a:r>
              <a:rPr sz="1550" b="0">
                <a:solidFill>
                  <a:srgbClr val="0F172A"/>
                </a:solidFill>
                <a:latin typeface="Segoe UI"/>
              </a:rPr>
              <a:t>No forward-looking view of demand or donor availability — blood has a limited shelf life, so this drives both wastage and shortages.</a:t>
            </a:r>
          </a:p>
          <a:p>
            <a:pPr>
              <a:lnSpc>
                <a:spcPct val="108000"/>
              </a:lnSpc>
              <a:spcAft>
                <a:spcPts val="1800"/>
              </a:spcAft>
            </a:pPr>
            <a:r>
              <a:rPr sz="1550" b="1">
                <a:solidFill>
                  <a:srgbClr val="1D4ED8"/>
                </a:solidFill>
                <a:latin typeface="Segoe UI"/>
              </a:rPr>
              <a:t>•  </a:t>
            </a:r>
            <a:r>
              <a:rPr sz="1550" b="1">
                <a:solidFill>
                  <a:srgbClr val="0F172A"/>
                </a:solidFill>
                <a:latin typeface="Segoe UI"/>
              </a:rPr>
              <a:t>Low repeat donation. </a:t>
            </a:r>
            <a:r>
              <a:rPr sz="1550" b="0">
                <a:solidFill>
                  <a:srgbClr val="0F172A"/>
                </a:solidFill>
                <a:latin typeface="Segoe UI"/>
              </a:rPr>
              <a:t>Without eligibility tracking or structured follow-up, first-time donors are rarely engaged again.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1463040"/>
            <a:ext cx="3566160" cy="4572000"/>
          </a:xfrm>
          <a:prstGeom prst="roundRect">
            <a:avLst>
              <a:gd name="adj" fmla="val 6000"/>
            </a:avLst>
          </a:prstGeom>
          <a:solidFill>
            <a:srgbClr val="FFFBEB"/>
          </a:solidFill>
          <a:ln w="12700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229600" y="1737360"/>
            <a:ext cx="548640" cy="548640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Segoe UI"/>
              </a:rPr>
              <a:t>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15400" y="1783080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92400E"/>
                </a:solidFill>
                <a:latin typeface="Segoe UI"/>
              </a:rPr>
              <a:t>Impact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2377440"/>
            <a:ext cx="306324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92400E"/>
                </a:solidFill>
                <a:latin typeface="Segoe UI"/>
              </a:rPr>
              <a:t>Urgent patients wait longer for compatible blood, hospitals over- or under-stock, and willing donors are never re-engaged — all solvable with a connected, predictive system.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B6B82"/>
                </a:solidFill>
                <a:latin typeface="Segoe UI"/>
              </a:rPr>
              <a:t>LifeLink • AI-Based Blood Donor Management System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1148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6B6D4"/>
                </a:solidFill>
                <a:latin typeface="Segoe UI"/>
              </a:rPr>
              <a:t>PROJECT GOALS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Segoe UI"/>
              </a:rPr>
              <a:t>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65760"/>
            <a:ext cx="685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C7D2FE"/>
                </a:solidFill>
                <a:latin typeface="Segoe UI"/>
              </a:rPr>
              <a:t>03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371600"/>
            <a:ext cx="3456432" cy="157276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58952" y="1536192"/>
            <a:ext cx="457200" cy="457200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554480"/>
            <a:ext cx="254203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E3A8A"/>
                </a:solidFill>
                <a:latin typeface="Segoe UI"/>
              </a:rPr>
              <a:t>Donor Eligibility Prediction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084832"/>
            <a:ext cx="3054096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80" b="0" i="0">
                <a:solidFill>
                  <a:srgbClr val="5B6B82"/>
                </a:solidFill>
                <a:latin typeface="Segoe UI"/>
              </a:rPr>
              <a:t>Train and evaluate a classifier that predicts whether a donor is currently eligible to donate.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33672" y="1371600"/>
            <a:ext cx="3456432" cy="157276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398264" y="1536192"/>
            <a:ext cx="457200" cy="457200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10912" y="1554480"/>
            <a:ext cx="254203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E3A8A"/>
                </a:solidFill>
                <a:latin typeface="Segoe UI"/>
              </a:rPr>
              <a:t>Donor–Hospital Matching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2084832"/>
            <a:ext cx="3054096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80" b="0" i="0">
                <a:solidFill>
                  <a:srgbClr val="5B6B82"/>
                </a:solidFill>
                <a:latin typeface="Segoe UI"/>
              </a:rPr>
              <a:t>Rank compatible donors for a request using blood compatibility, distance, and AI reliability signals.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72983" y="1371600"/>
            <a:ext cx="3456432" cy="157276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37575" y="1536192"/>
            <a:ext cx="457200" cy="457200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50224" y="1554480"/>
            <a:ext cx="254203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E3A8A"/>
                </a:solidFill>
                <a:latin typeface="Segoe UI"/>
              </a:rPr>
              <a:t>Blood Demand Forecasting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74152" y="2084832"/>
            <a:ext cx="3054096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80" b="0" i="0">
                <a:solidFill>
                  <a:srgbClr val="5B6B82"/>
                </a:solidFill>
                <a:latin typeface="Segoe UI"/>
              </a:rPr>
              <a:t>Estimate near-term demand per blood group from real historical request data.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414016" y="3264408"/>
            <a:ext cx="3456432" cy="157276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578608" y="3429000"/>
            <a:ext cx="457200" cy="457200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91256" y="3447288"/>
            <a:ext cx="254203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E3A8A"/>
                </a:solidFill>
                <a:latin typeface="Segoe UI"/>
              </a:rPr>
              <a:t>Three-Role Web Portal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15184" y="3977639"/>
            <a:ext cx="3054096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80" b="0" i="0">
                <a:solidFill>
                  <a:srgbClr val="5B6B82"/>
                </a:solidFill>
                <a:latin typeface="Segoe UI"/>
              </a:rPr>
              <a:t>Deliver full Donor, Hospital, and Administrator portals with isolated authentication.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53328" y="3264408"/>
            <a:ext cx="3456432" cy="157276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217920" y="3429000"/>
            <a:ext cx="457200" cy="457200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30568" y="3447288"/>
            <a:ext cx="254203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E3A8A"/>
                </a:solidFill>
                <a:latin typeface="Segoe UI"/>
              </a:rPr>
              <a:t>Rigorous, Honest AI Evaluation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54496" y="3977639"/>
            <a:ext cx="3054096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80" b="0" i="0">
                <a:solidFill>
                  <a:srgbClr val="5B6B82"/>
                </a:solidFill>
                <a:latin typeface="Segoe UI"/>
              </a:rPr>
              <a:t>Evaluate every model on held-out data and report real accuracy — not assumed performance.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B6B82"/>
                </a:solidFill>
                <a:latin typeface="Segoe UI"/>
              </a:rPr>
              <a:t>LifeLink • AI-Based Blood Donor Management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1148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6B6D4"/>
                </a:solidFill>
                <a:latin typeface="Segoe UI"/>
              </a:rPr>
              <a:t>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Segoe UI"/>
              </a:rPr>
              <a:t>Existing System vs. Proposed System (LifeLink)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65760"/>
            <a:ext cx="685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C7D2FE"/>
                </a:solidFill>
                <a:latin typeface="Segoe UI"/>
              </a:rPr>
              <a:t>04 / 21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417320"/>
          <a:ext cx="10972800" cy="45720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286000"/>
                <a:gridCol w="4343400"/>
                <a:gridCol w="4343400"/>
              </a:tblGrid>
              <a:tr h="57150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Aspect</a:t>
                      </a:r>
                    </a:p>
                  </a:txBody>
                  <a:tcPr anchor="ctr" marL="73152" marR="73152" marT="36576" marB="36576">
                    <a:solidFill>
                      <a:srgbClr val="1D4E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Existing / Manual Approach</a:t>
                      </a:r>
                    </a:p>
                  </a:txBody>
                  <a:tcPr anchor="ctr" marL="73152" marR="73152" marT="36576" marB="36576">
                    <a:solidFill>
                      <a:srgbClr val="1D4E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LifeLink (Implemented)</a:t>
                      </a:r>
                    </a:p>
                  </a:txBody>
                  <a:tcPr anchor="ctr" marL="73152" marR="73152" marT="36576" marB="36576">
                    <a:solidFill>
                      <a:srgbClr val="1D4ED8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0F172A"/>
                          </a:solidFill>
                          <a:latin typeface="Segoe UI"/>
                        </a:rPr>
                        <a:t>Donor discovery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0F172A"/>
                          </a:solidFill>
                          <a:latin typeface="Segoe UI"/>
                        </a:rPr>
                        <a:t>Phone calls &amp; social media appeals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0F172A"/>
                          </a:solidFill>
                          <a:latin typeface="Segoe UI"/>
                        </a:rPr>
                        <a:t>Instant AI-ranked donor search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0F172A"/>
                          </a:solidFill>
                          <a:latin typeface="Segoe UI"/>
                        </a:rPr>
                        <a:t>Eligibility check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0F172A"/>
                          </a:solidFill>
                          <a:latin typeface="Segoe UI"/>
                        </a:rPr>
                        <a:t>Self-reported, not verified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0F172A"/>
                          </a:solidFill>
                          <a:latin typeface="Segoe UI"/>
                        </a:rPr>
                        <a:t>ML classifier at registration &amp; every profile update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0F172A"/>
                          </a:solidFill>
                          <a:latin typeface="Segoe UI"/>
                        </a:rPr>
                        <a:t>Donor selection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0F172A"/>
                          </a:solidFill>
                          <a:latin typeface="Segoe UI"/>
                        </a:rPr>
                        <a:t>Unordered manual list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0F172A"/>
                          </a:solidFill>
                          <a:latin typeface="Segoe UI"/>
                        </a:rPr>
                        <a:t>Explainable match_score + breakdown per donor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0F172A"/>
                          </a:solidFill>
                          <a:latin typeface="Segoe UI"/>
                        </a:rPr>
                        <a:t>Stock management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0F172A"/>
                          </a:solidFill>
                          <a:latin typeface="Segoe UI"/>
                        </a:rPr>
                        <a:t>Reactive, paper/manual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0F172A"/>
                          </a:solidFill>
                          <a:latin typeface="Segoe UI"/>
                        </a:rPr>
                        <a:t>Live thresholds, auto alerts, demand forecast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0F172A"/>
                          </a:solidFill>
                          <a:latin typeface="Segoe UI"/>
                        </a:rPr>
                        <a:t>Location awareness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0F172A"/>
                          </a:solidFill>
                          <a:latin typeface="Segoe UI"/>
                        </a:rPr>
                        <a:t>None / word of mouth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0F172A"/>
                          </a:solidFill>
                          <a:latin typeface="Segoe UI"/>
                        </a:rPr>
                        <a:t>Real geographic distance (Haversine) + district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0F172A"/>
                          </a:solidFill>
                          <a:latin typeface="Segoe UI"/>
                        </a:rPr>
                        <a:t>Oversight &amp; audit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0F172A"/>
                          </a:solidFill>
                          <a:latin typeface="Segoe UI"/>
                        </a:rPr>
                        <a:t>No structured record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0F172A"/>
                          </a:solidFill>
                          <a:latin typeface="Segoe UI"/>
                        </a:rPr>
                        <a:t>Full AI-decision &amp; activity audit trail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0F172A"/>
                          </a:solidFill>
                          <a:latin typeface="Segoe UI"/>
                        </a:rPr>
                        <a:t>Communication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0F172A"/>
                          </a:solidFill>
                          <a:latin typeface="Segoe UI"/>
                        </a:rPr>
                        <a:t>Ad-hoc, unlogged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0F172A"/>
                          </a:solidFill>
                          <a:latin typeface="Segoe UI"/>
                        </a:rPr>
                        <a:t>In-app notifications, role-isolated, event-driven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B6B82"/>
                </a:solidFill>
                <a:latin typeface="Segoe UI"/>
              </a:rPr>
              <a:t>LifeLink • AI-Based Blood Donor Management System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1148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6B6D4"/>
                </a:solidFill>
                <a:latin typeface="Segoe UI"/>
              </a:rPr>
              <a:t>TECHNICAL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Segoe UI"/>
              </a:rPr>
              <a:t>System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65760"/>
            <a:ext cx="685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C7D2FE"/>
                </a:solidFill>
                <a:latin typeface="Segoe UI"/>
              </a:rPr>
              <a:t>05 /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29844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5B6B82"/>
                </a:solidFill>
                <a:latin typeface="Segoe UI"/>
              </a:rPr>
              <a:t>Three-tier design: independent Laravel web app and Python AI microservice, communicating over REST/JSON.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874519"/>
            <a:ext cx="3291840" cy="777240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50" b="1">
                <a:solidFill>
                  <a:srgbClr val="1E3A8A"/>
                </a:solidFill>
                <a:latin typeface="Segoe UI"/>
              </a:rPr>
              <a:t>Presentation Layer</a:t>
            </a:r>
          </a:p>
          <a:p>
            <a:pPr algn="ctr"/>
            <a:r>
              <a:rPr sz="1000">
                <a:solidFill>
                  <a:srgbClr val="5B6B82"/>
                </a:solidFill>
                <a:latin typeface="Segoe UI"/>
              </a:rPr>
              <a:t>Donor / Hospital / Admin browsers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023360" y="2139696"/>
            <a:ext cx="365760" cy="256032"/>
          </a:xfrm>
          <a:prstGeom prst="rightArrow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26280" y="1737360"/>
            <a:ext cx="3931920" cy="1051560"/>
          </a:xfrm>
          <a:prstGeom prst="roundRect">
            <a:avLst>
              <a:gd name="adj" fmla="val 12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Laravel 12 Application</a:t>
            </a:r>
          </a:p>
          <a:p>
            <a:pPr algn="ctr"/>
            <a:r>
              <a:rPr sz="1000">
                <a:solidFill>
                  <a:srgbClr val="DBEAFE"/>
                </a:solidFill>
                <a:latin typeface="Segoe UI"/>
              </a:rPr>
              <a:t>Guards • Controllers • Services • Blade Views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595360" y="2139696"/>
            <a:ext cx="365760" cy="256032"/>
          </a:xfrm>
          <a:prstGeom prst="rightArrow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098280" y="1737360"/>
            <a:ext cx="2514600" cy="105156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1E3A8A"/>
                </a:solidFill>
                <a:latin typeface="Segoe UI"/>
              </a:rPr>
              <a:t>SQLite / MySQL
Database</a:t>
            </a:r>
          </a:p>
          <a:p>
            <a:pPr algn="ctr"/>
            <a:r>
              <a:rPr sz="1000">
                <a:solidFill>
                  <a:srgbClr val="5B6B82"/>
                </a:solidFill>
                <a:latin typeface="Segoe UI"/>
              </a:rPr>
              <a:t>Donors • Requests • Logs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6355080" y="2926080"/>
            <a:ext cx="256032" cy="320040"/>
          </a:xfrm>
          <a:prstGeom prst="downArrow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26280" y="3383280"/>
            <a:ext cx="3931920" cy="1051560"/>
          </a:xfrm>
          <a:prstGeom prst="roundRect">
            <a:avLst>
              <a:gd name="adj" fmla="val 12000"/>
            </a:avLst>
          </a:prstGeom>
          <a:solidFill>
            <a:srgbClr val="ECF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0E7490"/>
                </a:solidFill>
                <a:latin typeface="Segoe UI"/>
              </a:rPr>
              <a:t>AiEligibilityService /
DonorMatchingService</a:t>
            </a:r>
          </a:p>
          <a:p>
            <a:pPr algn="ctr"/>
            <a:r>
              <a:rPr sz="1000">
                <a:solidFill>
                  <a:srgbClr val="5B6B82"/>
                </a:solidFill>
                <a:latin typeface="Segoe UI"/>
              </a:rPr>
              <a:t>Laravel-side AI client + matching logic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6355080" y="4572000"/>
            <a:ext cx="256032" cy="320040"/>
          </a:xfrm>
          <a:prstGeom prst="downArrow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023360" y="5029200"/>
            <a:ext cx="4937760" cy="1143000"/>
          </a:xfrm>
          <a:prstGeom prst="roundRect">
            <a:avLst>
              <a:gd name="adj" fmla="val 12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Python FastAPI AI Microservice</a:t>
            </a:r>
          </a:p>
          <a:p>
            <a:pPr algn="ctr"/>
            <a:r>
              <a:rPr sz="1000">
                <a:solidFill>
                  <a:srgbClr val="C7D2FE"/>
                </a:solidFill>
                <a:latin typeface="Segoe UI"/>
              </a:rPr>
              <a:t>6 ML models (scikit-learn) + chatbot — /predict, /predict-response,
/detect-anomaly, /predict-shortage, /forecast-demand, /cluster-donors, /chatbot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5074920"/>
            <a:ext cx="24688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5B6B82"/>
                </a:solidFill>
                <a:latin typeface="Segoe UI"/>
              </a:rPr>
              <a:t>Deployed as two</a:t>
            </a:r>
          </a:p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5B6B82"/>
                </a:solidFill>
                <a:latin typeface="Segoe UI"/>
              </a:rPr>
              <a:t>independent processes.</a:t>
            </a:r>
          </a:p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5B6B82"/>
                </a:solidFill>
                <a:latin typeface="Segoe UI"/>
              </a:rPr>
              <a:t>AI service can be</a:t>
            </a:r>
          </a:p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5B6B82"/>
                </a:solidFill>
                <a:latin typeface="Segoe UI"/>
              </a:rPr>
              <a:t>retrained/restarted</a:t>
            </a:r>
          </a:p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5B6B82"/>
                </a:solidFill>
                <a:latin typeface="Segoe UI"/>
              </a:rPr>
              <a:t>without redeploying</a:t>
            </a:r>
          </a:p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5B6B82"/>
                </a:solidFill>
                <a:latin typeface="Segoe UI"/>
              </a:rPr>
              <a:t>the web app.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B6B82"/>
                </a:solidFill>
                <a:latin typeface="Segoe UI"/>
              </a:rPr>
              <a:t>LifeLink • AI-Based Blood Donor Management System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1148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6B6D4"/>
                </a:solidFill>
                <a:latin typeface="Segoe UI"/>
              </a:rPr>
              <a:t>ACCESS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Segoe UI"/>
              </a:rPr>
              <a:t>User Roles: Donor, Hospital, Admin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65760"/>
            <a:ext cx="685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C7D2FE"/>
                </a:solidFill>
                <a:latin typeface="Segoe UI"/>
              </a:rPr>
              <a:t>06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5147" y="1554480"/>
            <a:ext cx="3520440" cy="4297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95147" y="1554480"/>
            <a:ext cx="3520440" cy="123444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889607" y="17830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600" b="1">
                <a:solidFill>
                  <a:srgbClr val="1D4ED8"/>
                </a:solidFill>
                <a:latin typeface="Segoe UI"/>
              </a:rPr>
              <a:t>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5147" y="2880360"/>
            <a:ext cx="3520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1E3A8A"/>
                </a:solidFill>
                <a:latin typeface="Segoe UI"/>
              </a:rPr>
              <a:t>Donor Portal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9467" y="3429000"/>
            <a:ext cx="2971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5B6B82"/>
                </a:solidFill>
                <a:latin typeface="Segoe UI"/>
              </a:rPr>
              <a:t>Registers, tracks eligibility, views donation history, books appointments.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9467" y="4526280"/>
            <a:ext cx="29718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9467" y="4709160"/>
            <a:ext cx="2971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50" b="0" i="0">
                <a:solidFill>
                  <a:srgbClr val="5B6B82"/>
                </a:solidFill>
                <a:latin typeface="Segoe UI"/>
              </a:rPr>
              <a:t>Isolated login guard</a:t>
            </a:r>
          </a:p>
          <a:p>
            <a:pPr algn="ctr">
              <a:lnSpc>
                <a:spcPct val="130000"/>
              </a:lnSpc>
            </a:pPr>
            <a:r>
              <a:rPr sz="1050" b="0" i="0">
                <a:solidFill>
                  <a:srgbClr val="5B6B82"/>
                </a:solidFill>
                <a:latin typeface="Segoe UI"/>
              </a:rPr>
              <a:t>Separate session &amp; routes</a:t>
            </a:r>
          </a:p>
          <a:p>
            <a:pPr algn="ctr">
              <a:lnSpc>
                <a:spcPct val="130000"/>
              </a:lnSpc>
            </a:pPr>
            <a:r>
              <a:rPr sz="1050" b="0" i="0">
                <a:solidFill>
                  <a:srgbClr val="5B6B82"/>
                </a:solidFill>
                <a:latin typeface="Segoe UI"/>
              </a:rPr>
              <a:t>Cannot access other roles' data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35627" y="1554480"/>
            <a:ext cx="3520440" cy="4297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35627" y="1554480"/>
            <a:ext cx="3520440" cy="123444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730087" y="17830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600" b="1">
                <a:solidFill>
                  <a:srgbClr val="06B6D4"/>
                </a:solidFill>
                <a:latin typeface="Segoe UI"/>
              </a:rPr>
              <a:t>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35627" y="2880360"/>
            <a:ext cx="3520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1E3A8A"/>
                </a:solidFill>
                <a:latin typeface="Segoe UI"/>
              </a:rPr>
              <a:t>Hospital Portal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09947" y="3429000"/>
            <a:ext cx="2971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5B6B82"/>
                </a:solidFill>
                <a:latin typeface="Segoe UI"/>
              </a:rPr>
              <a:t>Submits blood requests, views AI-ranked donor matches, manages inventory.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09947" y="4526280"/>
            <a:ext cx="29718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09947" y="4709160"/>
            <a:ext cx="2971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50" b="0" i="0">
                <a:solidFill>
                  <a:srgbClr val="5B6B82"/>
                </a:solidFill>
                <a:latin typeface="Segoe UI"/>
              </a:rPr>
              <a:t>Isolated login guard</a:t>
            </a:r>
          </a:p>
          <a:p>
            <a:pPr algn="ctr">
              <a:lnSpc>
                <a:spcPct val="130000"/>
              </a:lnSpc>
            </a:pPr>
            <a:r>
              <a:rPr sz="1050" b="0" i="0">
                <a:solidFill>
                  <a:srgbClr val="5B6B82"/>
                </a:solidFill>
                <a:latin typeface="Segoe UI"/>
              </a:rPr>
              <a:t>Separate session &amp; routes</a:t>
            </a:r>
          </a:p>
          <a:p>
            <a:pPr algn="ctr">
              <a:lnSpc>
                <a:spcPct val="130000"/>
              </a:lnSpc>
            </a:pPr>
            <a:r>
              <a:rPr sz="1050" b="0" i="0">
                <a:solidFill>
                  <a:srgbClr val="5B6B82"/>
                </a:solidFill>
                <a:latin typeface="Segoe UI"/>
              </a:rPr>
              <a:t>Cannot access other roles' data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76107" y="1554480"/>
            <a:ext cx="3520440" cy="4297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76107" y="1554480"/>
            <a:ext cx="3520440" cy="123444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570567" y="17830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600" b="1">
                <a:solidFill>
                  <a:srgbClr val="16A34A"/>
                </a:solidFill>
                <a:latin typeface="Segoe UI"/>
              </a:rPr>
              <a:t>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76107" y="2880360"/>
            <a:ext cx="3520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1E3A8A"/>
                </a:solidFill>
                <a:latin typeface="Segoe UI"/>
              </a:rPr>
              <a:t>Admin Portal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50427" y="3429000"/>
            <a:ext cx="2971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5B6B82"/>
                </a:solidFill>
                <a:latin typeface="Segoe UI"/>
              </a:rPr>
              <a:t>Oversees donors &amp; hospitals, monitors AI activity, manages system-wide reports.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50427" y="4526280"/>
            <a:ext cx="29718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50427" y="4709160"/>
            <a:ext cx="2971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50" b="0" i="0">
                <a:solidFill>
                  <a:srgbClr val="5B6B82"/>
                </a:solidFill>
                <a:latin typeface="Segoe UI"/>
              </a:rPr>
              <a:t>Isolated login guard</a:t>
            </a:r>
          </a:p>
          <a:p>
            <a:pPr algn="ctr">
              <a:lnSpc>
                <a:spcPct val="130000"/>
              </a:lnSpc>
            </a:pPr>
            <a:r>
              <a:rPr sz="1050" b="0" i="0">
                <a:solidFill>
                  <a:srgbClr val="5B6B82"/>
                </a:solidFill>
                <a:latin typeface="Segoe UI"/>
              </a:rPr>
              <a:t>Separate session &amp; routes</a:t>
            </a:r>
          </a:p>
          <a:p>
            <a:pPr algn="ctr">
              <a:lnSpc>
                <a:spcPct val="130000"/>
              </a:lnSpc>
            </a:pPr>
            <a:r>
              <a:rPr sz="1050" b="0" i="0">
                <a:solidFill>
                  <a:srgbClr val="5B6B82"/>
                </a:solidFill>
                <a:latin typeface="Segoe UI"/>
              </a:rPr>
              <a:t>Cannot access other roles' data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03504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1">
                <a:solidFill>
                  <a:srgbClr val="5B6B82"/>
                </a:solidFill>
                <a:latin typeface="Segoe UI"/>
              </a:rPr>
              <a:t>Enforced by three dedicated middleware classes — DonorAuthenticated, HospitalAuthenticated, AdminAuthenticated — verified by automated cross-role security tests.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1148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6B6D4"/>
                </a:solidFill>
                <a:latin typeface="Segoe UI"/>
              </a:rPr>
              <a:t>MODULE BREAKDOWN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Segoe UI"/>
              </a:rPr>
              <a:t>Donor Module &amp; Submodules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65760"/>
            <a:ext cx="685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C7D2FE"/>
                </a:solidFill>
                <a:latin typeface="Segoe UI"/>
              </a:rPr>
              <a:t>07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417320"/>
            <a:ext cx="3429000" cy="123444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536192"/>
            <a:ext cx="309981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D4ED8"/>
                </a:solidFill>
                <a:latin typeface="Segoe UI"/>
              </a:rPr>
              <a:t>Registration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1874519"/>
            <a:ext cx="3099816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5B6B82"/>
                </a:solidFill>
                <a:latin typeface="Segoe UI"/>
              </a:rPr>
              <a:t>Personal + health details; AI eligibility check runs instantly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1417320"/>
            <a:ext cx="3429000" cy="123444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70832" y="1536192"/>
            <a:ext cx="309981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D4ED8"/>
                </a:solidFill>
                <a:latin typeface="Segoe UI"/>
              </a:rPr>
              <a:t>Login / Logout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0832" y="1874519"/>
            <a:ext cx="3099816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5B6B82"/>
                </a:solidFill>
                <a:latin typeface="Segoe UI"/>
              </a:rPr>
              <a:t>Isolated donor session guard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18120" y="1417320"/>
            <a:ext cx="3429000" cy="123444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82712" y="1536192"/>
            <a:ext cx="309981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D4ED8"/>
                </a:solidFill>
                <a:latin typeface="Segoe UI"/>
              </a:rPr>
              <a:t>Dashboard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82712" y="1874519"/>
            <a:ext cx="3099816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5B6B82"/>
                </a:solidFill>
                <a:latin typeface="Segoe UI"/>
              </a:rPr>
              <a:t>Eligibility status, AI confidence, health breakdown, donation history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2834640"/>
            <a:ext cx="3429000" cy="123444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2" y="2953512"/>
            <a:ext cx="309981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D4ED8"/>
                </a:solidFill>
                <a:latin typeface="Segoe UI"/>
              </a:rPr>
              <a:t>Profile Editing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" y="3291840"/>
            <a:ext cx="3099816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5B6B82"/>
                </a:solidFill>
                <a:latin typeface="Segoe UI"/>
              </a:rPr>
              <a:t>Re-runs the AI eligibility check on any health-data change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06240" y="2834640"/>
            <a:ext cx="3429000" cy="123444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70832" y="2953512"/>
            <a:ext cx="309981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D4ED8"/>
                </a:solidFill>
                <a:latin typeface="Segoe UI"/>
              </a:rPr>
              <a:t>Appointments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70832" y="3291840"/>
            <a:ext cx="3099816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5B6B82"/>
                </a:solidFill>
                <a:latin typeface="Segoe UI"/>
              </a:rPr>
              <a:t>Book, view, cancel donation appointments at a hospital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18120" y="2834640"/>
            <a:ext cx="3429000" cy="123444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82712" y="2953512"/>
            <a:ext cx="309981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D4ED8"/>
                </a:solidFill>
                <a:latin typeface="Segoe UI"/>
              </a:rPr>
              <a:t>Notifications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82712" y="3291840"/>
            <a:ext cx="3099816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5B6B82"/>
                </a:solidFill>
                <a:latin typeface="Segoe UI"/>
              </a:rPr>
              <a:t>Real-time alerts for matches, appointments, reminders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4251960"/>
            <a:ext cx="3429000" cy="123444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8952" y="4370832"/>
            <a:ext cx="309981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D4ED8"/>
                </a:solidFill>
                <a:latin typeface="Segoe UI"/>
              </a:rPr>
              <a:t>Find Donors (Public)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" y="4709160"/>
            <a:ext cx="3099816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5B6B82"/>
                </a:solidFill>
                <a:latin typeface="Segoe UI"/>
              </a:rPr>
              <a:t>Search eligible donors by blood group, district, min. donations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B6B82"/>
                </a:solidFill>
                <a:latin typeface="Segoe UI"/>
              </a:rPr>
              <a:t>LifeLink • AI-Based Blood Donor Management System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35040" y="6547104"/>
            <a:ext cx="5669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5B6B82"/>
                </a:solidFill>
                <a:latin typeface="Segoe UI"/>
              </a:rPr>
              <a:t>AI touch-point: eligibility check on registration &amp; every profile update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1148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6B6D4"/>
                </a:solidFill>
                <a:latin typeface="Segoe UI"/>
              </a:rPr>
              <a:t>MODULE BREAKDOWN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Segoe UI"/>
              </a:rPr>
              <a:t>Hospital Module &amp; Submodules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65760"/>
            <a:ext cx="685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C7D2FE"/>
                </a:solidFill>
                <a:latin typeface="Segoe UI"/>
              </a:rPr>
              <a:t>08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417320"/>
            <a:ext cx="3429000" cy="123444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536192"/>
            <a:ext cx="309981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E7490"/>
                </a:solidFill>
                <a:latin typeface="Segoe UI"/>
              </a:rPr>
              <a:t>Registration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1874519"/>
            <a:ext cx="3099816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5B6B82"/>
                </a:solidFill>
                <a:latin typeface="Segoe UI"/>
              </a:rPr>
              <a:t>Pending admin verification before full access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1417320"/>
            <a:ext cx="3429000" cy="123444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70832" y="1536192"/>
            <a:ext cx="309981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E7490"/>
                </a:solidFill>
                <a:latin typeface="Segoe UI"/>
              </a:rPr>
              <a:t>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0832" y="1874519"/>
            <a:ext cx="3099816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5B6B82"/>
                </a:solidFill>
                <a:latin typeface="Segoe UI"/>
              </a:rPr>
              <a:t>Live request stats + create a new blood request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18120" y="1417320"/>
            <a:ext cx="3429000" cy="123444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82712" y="1536192"/>
            <a:ext cx="309981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E7490"/>
                </a:solidFill>
                <a:latin typeface="Segoe UI"/>
              </a:rPr>
              <a:t>AI Donor Matching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82712" y="1874519"/>
            <a:ext cx="3099816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5B6B82"/>
                </a:solidFill>
                <a:latin typeface="Segoe UI"/>
              </a:rPr>
              <a:t>Ranked, explainable donor list per request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2834640"/>
            <a:ext cx="3429000" cy="123444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2" y="2953512"/>
            <a:ext cx="309981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E7490"/>
                </a:solidFill>
                <a:latin typeface="Segoe UI"/>
              </a:rPr>
              <a:t>Request List &amp; Fulfilment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" y="3291840"/>
            <a:ext cx="3099816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5B6B82"/>
                </a:solidFill>
                <a:latin typeface="Segoe UI"/>
              </a:rPr>
              <a:t>Track and mark requests fulfilled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06240" y="2834640"/>
            <a:ext cx="3429000" cy="123444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70832" y="2953512"/>
            <a:ext cx="309981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E7490"/>
                </a:solidFill>
                <a:latin typeface="Segoe UI"/>
              </a:rPr>
              <a:t>Blood Inventory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70832" y="3291840"/>
            <a:ext cx="3099816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5B6B82"/>
                </a:solidFill>
                <a:latin typeface="Segoe UI"/>
              </a:rPr>
              <a:t>Per-group stock levels, thresholds, full history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18120" y="2834640"/>
            <a:ext cx="3429000" cy="123444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82712" y="2953512"/>
            <a:ext cx="309981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E7490"/>
                </a:solidFill>
                <a:latin typeface="Segoe UI"/>
              </a:rPr>
              <a:t>Appointments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82712" y="3291840"/>
            <a:ext cx="3099816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5B6B82"/>
                </a:solidFill>
                <a:latin typeface="Segoe UI"/>
              </a:rPr>
              <a:t>Approve, reject, reschedule, complete donor bookings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4251960"/>
            <a:ext cx="3429000" cy="123444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8952" y="4370832"/>
            <a:ext cx="309981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E7490"/>
                </a:solidFill>
                <a:latin typeface="Segoe UI"/>
              </a:rPr>
              <a:t>Reports &amp; Analytics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" y="4709160"/>
            <a:ext cx="3099816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5B6B82"/>
                </a:solidFill>
                <a:latin typeface="Segoe UI"/>
              </a:rPr>
              <a:t>Own-data reports, export to PDF / Excel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06240" y="4251960"/>
            <a:ext cx="3429000" cy="123444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70832" y="4370832"/>
            <a:ext cx="309981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E7490"/>
                </a:solidFill>
                <a:latin typeface="Segoe UI"/>
              </a:rPr>
              <a:t>Notifications &amp; Profile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70832" y="4709160"/>
            <a:ext cx="3099816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5B6B82"/>
                </a:solidFill>
                <a:latin typeface="Segoe UI"/>
              </a:rPr>
              <a:t>Real-time alerts; hospital profile &amp; location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B6B82"/>
                </a:solidFill>
                <a:latin typeface="Segoe UI"/>
              </a:rPr>
              <a:t>LifeLink • AI-Based Blood Donor Management System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35040" y="6547104"/>
            <a:ext cx="5669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5B6B82"/>
                </a:solidFill>
                <a:latin typeface="Segoe UI"/>
              </a:rPr>
              <a:t>AI touch-point: ranked donor matching on every request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1148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6B6D4"/>
                </a:solidFill>
                <a:latin typeface="Segoe UI"/>
              </a:rPr>
              <a:t>MODULE BREAKDOWN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Segoe UI"/>
              </a:rPr>
              <a:t>Admin Module &amp; Submodules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65760"/>
            <a:ext cx="685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C7D2FE"/>
                </a:solidFill>
                <a:latin typeface="Segoe UI"/>
              </a:rPr>
              <a:t>09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371600"/>
            <a:ext cx="3429000" cy="941832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0664" y="1453896"/>
            <a:ext cx="31363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80" b="1" i="0">
                <a:solidFill>
                  <a:srgbClr val="16A34A"/>
                </a:solidFill>
                <a:latin typeface="Segoe UI"/>
              </a:rPr>
              <a:t>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" y="1737360"/>
            <a:ext cx="3136392" cy="5212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80" b="0" i="0">
                <a:solidFill>
                  <a:srgbClr val="5B6B82"/>
                </a:solidFill>
                <a:latin typeface="Segoe UI"/>
              </a:rPr>
              <a:t>Shortage risk, demand forecast, clustering, model info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9664" y="1371600"/>
            <a:ext cx="3429000" cy="941832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15968" y="1453896"/>
            <a:ext cx="31363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80" b="1" i="0">
                <a:solidFill>
                  <a:srgbClr val="16A34A"/>
                </a:solidFill>
                <a:latin typeface="Segoe UI"/>
              </a:rPr>
              <a:t>Donor Management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15968" y="1737360"/>
            <a:ext cx="3136392" cy="5212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80" b="0" i="0">
                <a:solidFill>
                  <a:srgbClr val="5B6B82"/>
                </a:solidFill>
                <a:latin typeface="Segoe UI"/>
              </a:rPr>
              <a:t>View, toggle eligibility, record donations, remove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44968" y="1371600"/>
            <a:ext cx="3429000" cy="941832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91272" y="1453896"/>
            <a:ext cx="31363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80" b="1" i="0">
                <a:solidFill>
                  <a:srgbClr val="16A34A"/>
                </a:solidFill>
                <a:latin typeface="Segoe UI"/>
              </a:rPr>
              <a:t>Hospital Management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91272" y="1737360"/>
            <a:ext cx="3136392" cy="5212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80" b="0" i="0">
                <a:solidFill>
                  <a:srgbClr val="5B6B82"/>
                </a:solidFill>
                <a:latin typeface="Segoe UI"/>
              </a:rPr>
              <a:t>View, verify / unverify, remove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2459736"/>
            <a:ext cx="3429000" cy="941832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0664" y="2542032"/>
            <a:ext cx="31363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80" b="1" i="0">
                <a:solidFill>
                  <a:srgbClr val="16A34A"/>
                </a:solidFill>
                <a:latin typeface="Segoe UI"/>
              </a:rPr>
              <a:t>Appointments Oversight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" y="2825496"/>
            <a:ext cx="3136392" cy="5212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80" b="0" i="0">
                <a:solidFill>
                  <a:srgbClr val="5B6B82"/>
                </a:solidFill>
                <a:latin typeface="Segoe UI"/>
              </a:rPr>
              <a:t>Cross-hospital appointment visibility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69664" y="2459736"/>
            <a:ext cx="3429000" cy="941832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15968" y="2542032"/>
            <a:ext cx="31363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80" b="1" i="0">
                <a:solidFill>
                  <a:srgbClr val="16A34A"/>
                </a:solidFill>
                <a:latin typeface="Segoe UI"/>
              </a:rPr>
              <a:t>Inventory Oversight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15968" y="2825496"/>
            <a:ext cx="3136392" cy="5212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80" b="0" i="0">
                <a:solidFill>
                  <a:srgbClr val="5B6B82"/>
                </a:solidFill>
                <a:latin typeface="Segoe UI"/>
              </a:rPr>
              <a:t>Aggregate stock across all hospitals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44968" y="2459736"/>
            <a:ext cx="3429000" cy="941832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91272" y="2542032"/>
            <a:ext cx="31363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80" b="1" i="0">
                <a:solidFill>
                  <a:srgbClr val="16A34A"/>
                </a:solidFill>
                <a:latin typeface="Segoe UI"/>
              </a:rPr>
              <a:t>AI Prediction Audit Log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91272" y="2825496"/>
            <a:ext cx="3136392" cy="5212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80" b="0" i="0">
                <a:solidFill>
                  <a:srgbClr val="5B6B82"/>
                </a:solidFill>
                <a:latin typeface="Segoe UI"/>
              </a:rPr>
              <a:t>Every AI decision ever made, searchable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3547872"/>
            <a:ext cx="3429000" cy="941832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0664" y="3630168"/>
            <a:ext cx="31363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80" b="1" i="0">
                <a:solidFill>
                  <a:srgbClr val="16A34A"/>
                </a:solidFill>
                <a:latin typeface="Segoe UI"/>
              </a:rPr>
              <a:t>Activity Log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0664" y="3913632"/>
            <a:ext cx="3136392" cy="5212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80" b="0" i="0">
                <a:solidFill>
                  <a:srgbClr val="5B6B82"/>
                </a:solidFill>
                <a:latin typeface="Segoe UI"/>
              </a:rPr>
              <a:t>System-wide action audit trail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69664" y="3547872"/>
            <a:ext cx="3429000" cy="941832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15968" y="3630168"/>
            <a:ext cx="31363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80" b="1" i="0">
                <a:solidFill>
                  <a:srgbClr val="16A34A"/>
                </a:solidFill>
                <a:latin typeface="Segoe UI"/>
              </a:rPr>
              <a:t>Reports &amp; Analytics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15968" y="3913632"/>
            <a:ext cx="3136392" cy="5212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80" b="0" i="0">
                <a:solidFill>
                  <a:srgbClr val="5B6B82"/>
                </a:solidFill>
                <a:latin typeface="Segoe UI"/>
              </a:rPr>
              <a:t>7 report types, PDF / Excel export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44968" y="3547872"/>
            <a:ext cx="3429000" cy="941832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91272" y="3630168"/>
            <a:ext cx="31363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80" b="1" i="0">
                <a:solidFill>
                  <a:srgbClr val="16A34A"/>
                </a:solidFill>
                <a:latin typeface="Segoe UI"/>
              </a:rPr>
              <a:t>Notifications &amp; Profile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91272" y="3913632"/>
            <a:ext cx="3136392" cy="5212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80" b="0" i="0">
                <a:solidFill>
                  <a:srgbClr val="5B6B82"/>
                </a:solidFill>
                <a:latin typeface="Segoe UI"/>
              </a:rPr>
              <a:t>System-wide alerts; admin account settings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B6B82"/>
                </a:solidFill>
                <a:latin typeface="Segoe UI"/>
              </a:rPr>
              <a:t>LifeLink • AI-Based Blood Donor Management System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35040" y="6547104"/>
            <a:ext cx="5669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5B6B82"/>
                </a:solidFill>
                <a:latin typeface="Segoe UI"/>
              </a:rPr>
              <a:t>Admin is the most AI-integrated screen — 4 live model calls combined per page load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1148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6B6D4"/>
                </a:solidFill>
                <a:latin typeface="Segoe UI"/>
              </a:rPr>
              <a:t>ARTIFICIAL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Segoe UI"/>
              </a:rPr>
              <a:t>AI / ML Features &amp;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65760"/>
            <a:ext cx="685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C7D2FE"/>
                </a:solidFill>
                <a:latin typeface="Segoe UI"/>
              </a:rPr>
              <a:t>10 / 21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371600"/>
          <a:ext cx="7589520" cy="416052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965960"/>
                <a:gridCol w="2148840"/>
                <a:gridCol w="3474720"/>
              </a:tblGrid>
              <a:tr h="520065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Capability</a:t>
                      </a:r>
                    </a:p>
                  </a:txBody>
                  <a:tcPr anchor="ctr" marL="73152" marR="73152" marT="36576" marB="36576">
                    <a:solidFill>
                      <a:srgbClr val="1D4E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Model / Technique</a:t>
                      </a:r>
                    </a:p>
                  </a:txBody>
                  <a:tcPr anchor="ctr" marL="73152" marR="73152" marT="36576" marB="36576">
                    <a:solidFill>
                      <a:srgbClr val="1D4E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Purpose</a:t>
                      </a:r>
                    </a:p>
                  </a:txBody>
                  <a:tcPr anchor="ctr" marL="73152" marR="73152" marT="36576" marB="36576">
                    <a:solidFill>
                      <a:srgbClr val="1D4ED8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pPr algn="l"/>
                      <a:r>
                        <a:rPr sz="1080">
                          <a:solidFill>
                            <a:srgbClr val="0F172A"/>
                          </a:solidFill>
                          <a:latin typeface="Segoe UI"/>
                        </a:rPr>
                        <a:t>Donor Eligibility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80">
                          <a:solidFill>
                            <a:srgbClr val="0F172A"/>
                          </a:solidFill>
                          <a:latin typeface="Segoe UI"/>
                        </a:rPr>
                        <a:t>k-Nearest Neighbours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80">
                          <a:solidFill>
                            <a:srgbClr val="0F172A"/>
                          </a:solidFill>
                          <a:latin typeface="Segoe UI"/>
                        </a:rPr>
                        <a:t>Predicts if a donor can currently donate (age, weight, hemoglobin, group)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pPr algn="l"/>
                      <a:r>
                        <a:rPr sz="1080">
                          <a:solidFill>
                            <a:srgbClr val="0F172A"/>
                          </a:solidFill>
                          <a:latin typeface="Segoe UI"/>
                        </a:rPr>
                        <a:t>Response Likelihood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80">
                          <a:solidFill>
                            <a:srgbClr val="0F172A"/>
                          </a:solidFill>
                          <a:latin typeface="Segoe UI"/>
                        </a:rPr>
                        <a:t>Random Forest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80">
                          <a:solidFill>
                            <a:srgbClr val="0F172A"/>
                          </a:solidFill>
                          <a:latin typeface="Segoe UI"/>
                        </a:rPr>
                        <a:t>Predicts how likely a donor is to respond / be reliable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pPr algn="l"/>
                      <a:r>
                        <a:rPr sz="1080">
                          <a:solidFill>
                            <a:srgbClr val="0F172A"/>
                          </a:solidFill>
                          <a:latin typeface="Segoe UI"/>
                        </a:rPr>
                        <a:t>Anomaly Detection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80">
                          <a:solidFill>
                            <a:srgbClr val="0F172A"/>
                          </a:solidFill>
                          <a:latin typeface="Segoe UI"/>
                        </a:rPr>
                        <a:t>Isolation Forest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80">
                          <a:solidFill>
                            <a:srgbClr val="0F172A"/>
                          </a:solidFill>
                          <a:latin typeface="Segoe UI"/>
                        </a:rPr>
                        <a:t>Flags unusual donor registrations for admin review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pPr algn="l"/>
                      <a:r>
                        <a:rPr sz="1080">
                          <a:solidFill>
                            <a:srgbClr val="0F172A"/>
                          </a:solidFill>
                          <a:latin typeface="Segoe UI"/>
                        </a:rPr>
                        <a:t>Blood Shortage Risk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80">
                          <a:solidFill>
                            <a:srgbClr val="0F172A"/>
                          </a:solidFill>
                          <a:latin typeface="Segoe UI"/>
                        </a:rPr>
                        <a:t>Logistic Regression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80">
                          <a:solidFill>
                            <a:srgbClr val="0F172A"/>
                          </a:solidFill>
                          <a:latin typeface="Segoe UI"/>
                        </a:rPr>
                        <a:t>Predicts shortage risk per blood group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pPr algn="l"/>
                      <a:r>
                        <a:rPr sz="1080">
                          <a:solidFill>
                            <a:srgbClr val="0F172A"/>
                          </a:solidFill>
                          <a:latin typeface="Segoe UI"/>
                        </a:rPr>
                        <a:t>Demand Forecasting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80">
                          <a:solidFill>
                            <a:srgbClr val="0F172A"/>
                          </a:solidFill>
                          <a:latin typeface="Segoe UI"/>
                        </a:rPr>
                        <a:t>Linear Regression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80">
                          <a:solidFill>
                            <a:srgbClr val="0F172A"/>
                          </a:solidFill>
                          <a:latin typeface="Segoe UI"/>
                        </a:rPr>
                        <a:t>Forecasts near-term demand from real request history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pPr algn="l"/>
                      <a:r>
                        <a:rPr sz="1080">
                          <a:solidFill>
                            <a:srgbClr val="0F172A"/>
                          </a:solidFill>
                          <a:latin typeface="Segoe UI"/>
                        </a:rPr>
                        <a:t>Donor Clustering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80">
                          <a:solidFill>
                            <a:srgbClr val="0F172A"/>
                          </a:solidFill>
                          <a:latin typeface="Segoe UI"/>
                        </a:rPr>
                        <a:t>K-Means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80">
                          <a:solidFill>
                            <a:srgbClr val="0F172A"/>
                          </a:solidFill>
                          <a:latin typeface="Segoe UI"/>
                        </a:rPr>
                        <a:t>Groups donors for admin-side pattern insight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pPr algn="l"/>
                      <a:r>
                        <a:rPr sz="1080">
                          <a:solidFill>
                            <a:srgbClr val="0F172A"/>
                          </a:solidFill>
                          <a:latin typeface="Segoe UI"/>
                        </a:rPr>
                        <a:t>Conversational Assistant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80">
                          <a:solidFill>
                            <a:srgbClr val="0F172A"/>
                          </a:solidFill>
                          <a:latin typeface="Segoe UI"/>
                        </a:rPr>
                        <a:t>Intent-classification chatbot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80">
                          <a:solidFill>
                            <a:srgbClr val="0F172A"/>
                          </a:solidFill>
                          <a:latin typeface="Segoe UI"/>
                        </a:rPr>
                        <a:t>Context-aware Q&amp;A (e.g. “Am I eligible?”)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412480" y="1371600"/>
            <a:ext cx="3154680" cy="4160520"/>
          </a:xfrm>
          <a:prstGeom prst="roundRect">
            <a:avLst>
              <a:gd name="adj" fmla="val 6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0" y="155448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6B6D4"/>
                </a:solidFill>
                <a:latin typeface="Segoe UI"/>
              </a:rPr>
              <a:t>Why it adds value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2057400"/>
            <a:ext cx="265176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100" b="1">
                <a:solidFill>
                  <a:srgbClr val="06B6D4"/>
                </a:solidFill>
                <a:latin typeface="Segoe UI"/>
              </a:rPr>
              <a:t>•  </a:t>
            </a:r>
            <a:r>
              <a:rPr sz="1100" b="0">
                <a:solidFill>
                  <a:srgbClr val="FFFFFF"/>
                </a:solidFill>
                <a:latin typeface="Segoe UI"/>
              </a:rPr>
              <a:t>Replaces manual judgement with a data-driven, auditable eligibility score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100" b="1">
                <a:solidFill>
                  <a:srgbClr val="06B6D4"/>
                </a:solidFill>
                <a:latin typeface="Segoe UI"/>
              </a:rPr>
              <a:t>•  </a:t>
            </a:r>
            <a:r>
              <a:rPr sz="1100" b="0">
                <a:solidFill>
                  <a:srgbClr val="FFFFFF"/>
                </a:solidFill>
                <a:latin typeface="Segoe UI"/>
              </a:rPr>
              <a:t>Turns reactive stock control into proactive planning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100" b="1">
                <a:solidFill>
                  <a:srgbClr val="06B6D4"/>
                </a:solidFill>
                <a:latin typeface="Segoe UI"/>
              </a:rPr>
              <a:t>•  </a:t>
            </a:r>
            <a:r>
              <a:rPr sz="1100" b="0">
                <a:solidFill>
                  <a:srgbClr val="FFFFFF"/>
                </a:solidFill>
                <a:latin typeface="Segoe UI"/>
              </a:rPr>
              <a:t>Ranks donors instead of an unordered list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100" b="1">
                <a:solidFill>
                  <a:srgbClr val="06B6D4"/>
                </a:solidFill>
                <a:latin typeface="Segoe UI"/>
              </a:rPr>
              <a:t>•  </a:t>
            </a:r>
            <a:r>
              <a:rPr sz="1100" b="0">
                <a:solidFill>
                  <a:srgbClr val="FFFFFF"/>
                </a:solidFill>
                <a:latin typeface="Segoe UI"/>
              </a:rPr>
              <a:t>Every AI call is logged — fully explainable, not a black box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B6B82"/>
                </a:solidFill>
                <a:latin typeface="Segoe UI"/>
              </a:rPr>
              <a:t>LifeLink • AI-Based Blood Donor Management 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6547104"/>
            <a:ext cx="5669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5B6B82"/>
                </a:solidFill>
                <a:latin typeface="Segoe UI"/>
              </a:rPr>
              <a:t>All 6 models evaluated on held-out test data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1148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6B6D4"/>
                </a:solidFill>
                <a:latin typeface="Segoe UI"/>
              </a:rPr>
              <a:t>CORE ALGORITHM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Segoe UI"/>
              </a:rPr>
              <a:t>Blood Matching Algorithm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65760"/>
            <a:ext cx="685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C7D2FE"/>
                </a:solidFill>
                <a:latin typeface="Segoe UI"/>
              </a:rPr>
              <a:t>11 /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2984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5B6B82"/>
                </a:solidFill>
                <a:latin typeface="Segoe UI"/>
              </a:rPr>
              <a:t>DonorMatchingService combines deterministic domain rules with live AI signals into one explainable score.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920240"/>
            <a:ext cx="1965960" cy="1051560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1E3A8A"/>
                </a:solidFill>
                <a:latin typeface="Segoe UI"/>
              </a:rPr>
              <a:t>ABO/Rh
Compatibility</a:t>
            </a:r>
          </a:p>
          <a:p>
            <a:pPr algn="ctr"/>
            <a:r>
              <a:rPr sz="930">
                <a:solidFill>
                  <a:srgbClr val="5B6B82"/>
                </a:solidFill>
                <a:latin typeface="Segoe UI"/>
              </a:rPr>
              <a:t>Deterministic rule engine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569463" y="2340864"/>
            <a:ext cx="128016" cy="201168"/>
          </a:xfrm>
          <a:prstGeom prst="rightArrow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06624" y="1920240"/>
            <a:ext cx="1965960" cy="1051560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1E3A8A"/>
                </a:solidFill>
                <a:latin typeface="Segoe UI"/>
              </a:rPr>
              <a:t>Distance</a:t>
            </a:r>
          </a:p>
          <a:p>
            <a:pPr algn="ctr"/>
            <a:r>
              <a:rPr sz="930">
                <a:solidFill>
                  <a:srgbClr val="5B6B82"/>
                </a:solidFill>
                <a:latin typeface="Segoe UI"/>
              </a:rPr>
              <a:t>Real Haversine km, or district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681727" y="2340864"/>
            <a:ext cx="128016" cy="201168"/>
          </a:xfrm>
          <a:prstGeom prst="rightArrow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818888" y="1920240"/>
            <a:ext cx="1965960" cy="1051560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1E3A8A"/>
                </a:solidFill>
                <a:latin typeface="Segoe UI"/>
              </a:rPr>
              <a:t>AI Eligibility
Confidence</a:t>
            </a:r>
          </a:p>
          <a:p>
            <a:pPr algn="ctr"/>
            <a:r>
              <a:rPr sz="930">
                <a:solidFill>
                  <a:srgbClr val="5B6B82"/>
                </a:solidFill>
                <a:latin typeface="Segoe UI"/>
              </a:rPr>
              <a:t>k-NN model output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6793992" y="2340864"/>
            <a:ext cx="128016" cy="201168"/>
          </a:xfrm>
          <a:prstGeom prst="rightArrow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31152" y="1920240"/>
            <a:ext cx="1965960" cy="1051560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1E3A8A"/>
                </a:solidFill>
                <a:latin typeface="Segoe UI"/>
              </a:rPr>
              <a:t>AI Response
Probability</a:t>
            </a:r>
          </a:p>
          <a:p>
            <a:pPr algn="ctr"/>
            <a:r>
              <a:rPr sz="930">
                <a:solidFill>
                  <a:srgbClr val="5B6B82"/>
                </a:solidFill>
                <a:latin typeface="Segoe UI"/>
              </a:rPr>
              <a:t>Random Forest output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8906256" y="2340864"/>
            <a:ext cx="128016" cy="201168"/>
          </a:xfrm>
          <a:prstGeom prst="rightArrow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043416" y="1920240"/>
            <a:ext cx="1965960" cy="1051560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1E3A8A"/>
                </a:solidFill>
                <a:latin typeface="Segoe UI"/>
              </a:rPr>
              <a:t>Request
Urgency</a:t>
            </a:r>
          </a:p>
          <a:p>
            <a:pPr algn="ctr"/>
            <a:r>
              <a:rPr sz="930">
                <a:solidFill>
                  <a:srgbClr val="5B6B82"/>
                </a:solidFill>
                <a:latin typeface="Segoe UI"/>
              </a:rPr>
              <a:t>Dynamic re-weighting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5806440" y="3108960"/>
            <a:ext cx="274320" cy="292608"/>
          </a:xfrm>
          <a:prstGeom prst="downArrow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480560" y="3520440"/>
            <a:ext cx="3200400" cy="868680"/>
          </a:xfrm>
          <a:prstGeom prst="roundRect">
            <a:avLst>
              <a:gd name="adj" fmla="val 12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match_score (0–100)</a:t>
            </a:r>
          </a:p>
          <a:p>
            <a:pPr algn="ctr"/>
            <a:r>
              <a:rPr sz="1000">
                <a:solidFill>
                  <a:srgbClr val="E0FBFF"/>
                </a:solidFill>
                <a:latin typeface="Segoe UI"/>
              </a:rPr>
              <a:t>+ match_breakdown per donor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594360" y="4709160"/>
          <a:ext cx="4937760" cy="16002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463040"/>
                <a:gridCol w="1737360"/>
                <a:gridCol w="1737360"/>
              </a:tblGrid>
              <a:tr h="40005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Urgency</a:t>
                      </a:r>
                    </a:p>
                  </a:txBody>
                  <a:tcPr anchor="ctr" marL="73152" marR="73152" marT="36576" marB="36576">
                    <a:solidFill>
                      <a:srgbClr val="1D4E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Distance Weight</a:t>
                      </a:r>
                    </a:p>
                  </a:txBody>
                  <a:tcPr anchor="ctr" marL="73152" marR="73152" marT="36576" marB="36576">
                    <a:solidFill>
                      <a:srgbClr val="1D4E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Reliability Weight</a:t>
                      </a:r>
                    </a:p>
                  </a:txBody>
                  <a:tcPr anchor="ctr" marL="73152" marR="73152" marT="36576" marB="36576">
                    <a:solidFill>
                      <a:srgbClr val="1D4ED8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Segoe UI"/>
                        </a:rPr>
                        <a:t>Critical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Segoe UI"/>
                        </a:rPr>
                        <a:t>35%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Segoe UI"/>
                        </a:rPr>
                        <a:t>30%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Segoe UI"/>
                        </a:rPr>
                        <a:t>Urgent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Segoe UI"/>
                        </a:rPr>
                        <a:t>30%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Segoe UI"/>
                        </a:rPr>
                        <a:t>40%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Segoe UI"/>
                        </a:rPr>
                        <a:t>Standard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Segoe UI"/>
                        </a:rPr>
                        <a:t>15%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Segoe UI"/>
                        </a:rPr>
                        <a:t>55%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5806440" y="4754880"/>
            <a:ext cx="57607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B6B82"/>
                </a:solidFill>
                <a:latin typeface="Segoe UI"/>
              </a:rPr>
              <a:t>A critical request weights immediacy (compatibility + distance) most heavily; a standard request can afford to optimise for overall donor reliability. Every result shows its full breakdown — nothing is a hidden black-box score.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B6B82"/>
                </a:solidFill>
                <a:latin typeface="Segoe UI"/>
              </a:rPr>
              <a:t>LifeLink • AI-Based Blood Donor Management System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1148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6B6D4"/>
                </a:solidFill>
                <a:latin typeface="Segoe UI"/>
              </a:rPr>
              <a:t>STOCK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Segoe UI"/>
              </a:rPr>
              <a:t>Blood Inventory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65760"/>
            <a:ext cx="685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C7D2FE"/>
                </a:solidFill>
                <a:latin typeface="Segoe UI"/>
              </a:rPr>
              <a:t>12 /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63040"/>
            <a:ext cx="603504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350" b="1">
                <a:solidFill>
                  <a:srgbClr val="1D4ED8"/>
                </a:solidFill>
                <a:latin typeface="Segoe UI"/>
              </a:rPr>
              <a:t>•  </a:t>
            </a:r>
            <a:r>
              <a:rPr sz="1350" b="1">
                <a:solidFill>
                  <a:srgbClr val="0F172A"/>
                </a:solidFill>
                <a:latin typeface="Segoe UI"/>
              </a:rPr>
              <a:t>Per-group stock tracking</a:t>
            </a:r>
            <a:r>
              <a:rPr sz="1350" b="0">
                <a:solidFill>
                  <a:srgbClr val="0F172A"/>
                </a:solidFill>
                <a:latin typeface="Segoe UI"/>
              </a:rPr>
              <a:t>Available units + minimum threshold, per hospital, per blood group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350" b="1">
                <a:solidFill>
                  <a:srgbClr val="1D4ED8"/>
                </a:solidFill>
                <a:latin typeface="Segoe UI"/>
              </a:rPr>
              <a:t>•  </a:t>
            </a:r>
            <a:r>
              <a:rPr sz="1350" b="1">
                <a:solidFill>
                  <a:srgbClr val="0F172A"/>
                </a:solidFill>
                <a:latin typeface="Segoe UI"/>
              </a:rPr>
              <a:t>Automatic status tiers</a:t>
            </a:r>
            <a:r>
              <a:rPr sz="1350" b="0">
                <a:solidFill>
                  <a:srgbClr val="0F172A"/>
                </a:solidFill>
                <a:latin typeface="Segoe UI"/>
              </a:rPr>
              <a:t>Sufficient → Low Stock → Critical, computed live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350" b="1">
                <a:solidFill>
                  <a:srgbClr val="1D4ED8"/>
                </a:solidFill>
                <a:latin typeface="Segoe UI"/>
              </a:rPr>
              <a:t>•  </a:t>
            </a:r>
            <a:r>
              <a:rPr sz="1350" b="1">
                <a:solidFill>
                  <a:srgbClr val="0F172A"/>
                </a:solidFill>
                <a:latin typeface="Segoe UI"/>
              </a:rPr>
              <a:t>Full audit trail</a:t>
            </a:r>
            <a:r>
              <a:rPr sz="1350" b="0">
                <a:solidFill>
                  <a:srgbClr val="0F172A"/>
                </a:solidFill>
                <a:latin typeface="Segoe UI"/>
              </a:rPr>
              <a:t>Every add / remove / threshold change logged with before &amp; after units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350" b="1">
                <a:solidFill>
                  <a:srgbClr val="1D4ED8"/>
                </a:solidFill>
                <a:latin typeface="Segoe UI"/>
              </a:rPr>
              <a:t>•  </a:t>
            </a:r>
            <a:r>
              <a:rPr sz="1350" b="1">
                <a:solidFill>
                  <a:srgbClr val="0F172A"/>
                </a:solidFill>
                <a:latin typeface="Segoe UI"/>
              </a:rPr>
              <a:t>Auto-deduction on fulfilment</a:t>
            </a:r>
            <a:r>
              <a:rPr sz="1350" b="0">
                <a:solidFill>
                  <a:srgbClr val="0F172A"/>
                </a:solidFill>
                <a:latin typeface="Segoe UI"/>
              </a:rPr>
              <a:t>Stock reduces automatically when a request is fulfilled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0" y="1554480"/>
            <a:ext cx="1508760" cy="868680"/>
          </a:xfrm>
          <a:prstGeom prst="roundRect">
            <a:avLst>
              <a:gd name="adj" fmla="val 18000"/>
            </a:avLst>
          </a:prstGeom>
          <a:solidFill>
            <a:srgbClr val="F0FDF4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0" y="1810512"/>
            <a:ext cx="1508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6A34A"/>
                </a:solidFill>
                <a:latin typeface="Segoe UI"/>
              </a:rPr>
              <a:t>Sufficient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485632" y="1874519"/>
            <a:ext cx="201168" cy="182880"/>
          </a:xfrm>
          <a:prstGeom prst="rightArrow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659367" y="1554480"/>
            <a:ext cx="1508760" cy="868680"/>
          </a:xfrm>
          <a:prstGeom prst="roundRect">
            <a:avLst>
              <a:gd name="adj" fmla="val 18000"/>
            </a:avLst>
          </a:prstGeom>
          <a:solidFill>
            <a:srgbClr val="FFFBEB"/>
          </a:solidFill>
          <a:ln w="15875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59367" y="1810512"/>
            <a:ext cx="1508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D97706"/>
                </a:solidFill>
                <a:latin typeface="Segoe UI"/>
              </a:rPr>
              <a:t>Low Stock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10195559" y="1874519"/>
            <a:ext cx="201168" cy="182880"/>
          </a:xfrm>
          <a:prstGeom prst="rightArrow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369296" y="1554480"/>
            <a:ext cx="1508760" cy="868680"/>
          </a:xfrm>
          <a:prstGeom prst="roundRect">
            <a:avLst>
              <a:gd name="adj" fmla="val 18000"/>
            </a:avLst>
          </a:prstGeom>
          <a:solidFill>
            <a:srgbClr val="FEF0E6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69296" y="1810512"/>
            <a:ext cx="1508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B45309"/>
                </a:solidFill>
                <a:latin typeface="Segoe UI"/>
              </a:rPr>
              <a:t>Critical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49440" y="2788920"/>
            <a:ext cx="4663440" cy="288036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78040" y="2971800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E3A8A"/>
                </a:solidFill>
                <a:latin typeface="Segoe UI"/>
              </a:rPr>
              <a:t>Automatic Notifications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3429000"/>
            <a:ext cx="411480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150" b="1">
                <a:solidFill>
                  <a:srgbClr val="1D4ED8"/>
                </a:solidFill>
                <a:latin typeface="Segoe UI"/>
              </a:rPr>
              <a:t>•  </a:t>
            </a:r>
            <a:r>
              <a:rPr sz="1150" b="0">
                <a:solidFill>
                  <a:srgbClr val="0F172A"/>
                </a:solidFill>
                <a:latin typeface="Segoe UI"/>
              </a:rPr>
              <a:t>Critical → hospital + all admins alerted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150" b="1">
                <a:solidFill>
                  <a:srgbClr val="1D4ED8"/>
                </a:solidFill>
                <a:latin typeface="Segoe UI"/>
              </a:rPr>
              <a:t>•  </a:t>
            </a:r>
            <a:r>
              <a:rPr sz="1150" b="0">
                <a:solidFill>
                  <a:srgbClr val="0F172A"/>
                </a:solidFill>
                <a:latin typeface="Segoe UI"/>
              </a:rPr>
              <a:t>Low stock → owning hospital alerted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150" b="1">
                <a:solidFill>
                  <a:srgbClr val="1D4ED8"/>
                </a:solidFill>
                <a:latin typeface="Segoe UI"/>
              </a:rPr>
              <a:t>•  </a:t>
            </a:r>
            <a:r>
              <a:rPr sz="1150" b="0">
                <a:solidFill>
                  <a:srgbClr val="0F172A"/>
                </a:solidFill>
                <a:latin typeface="Segoe UI"/>
              </a:rPr>
              <a:t>Replenished → hospital notified stock recovered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150" b="1">
                <a:solidFill>
                  <a:srgbClr val="1D4ED8"/>
                </a:solidFill>
                <a:latin typeface="Segoe UI"/>
              </a:rPr>
              <a:t>•  </a:t>
            </a:r>
            <a:r>
              <a:rPr sz="1150" b="0">
                <a:solidFill>
                  <a:srgbClr val="0F172A"/>
                </a:solidFill>
                <a:latin typeface="Segoe UI"/>
              </a:rPr>
              <a:t>Only fires on a real tier change (no repeat spam)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B6B82"/>
                </a:solidFill>
                <a:latin typeface="Segoe UI"/>
              </a:rPr>
              <a:t>LifeLink • AI-Based Blood Donor Management System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6547104"/>
            <a:ext cx="5669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5B6B82"/>
                </a:solidFill>
                <a:latin typeface="Segoe UI"/>
              </a:rPr>
              <a:t>Admin sees an aggregate, cross-hospital view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1148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6B6D4"/>
                </a:solidFill>
                <a:latin typeface="Segoe UI"/>
              </a:rPr>
              <a:t>GEOGRAPHIC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Segoe UI"/>
              </a:rPr>
              <a:t>Location-Based Donor Matching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65760"/>
            <a:ext cx="685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C7D2FE"/>
                </a:solidFill>
                <a:latin typeface="Segoe UI"/>
              </a:rPr>
              <a:t>13 /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63040"/>
            <a:ext cx="594360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350" b="1">
                <a:solidFill>
                  <a:srgbClr val="1D4ED8"/>
                </a:solidFill>
                <a:latin typeface="Segoe UI"/>
              </a:rPr>
              <a:t>•  </a:t>
            </a:r>
            <a:r>
              <a:rPr sz="1350" b="1">
                <a:solidFill>
                  <a:srgbClr val="0F172A"/>
                </a:solidFill>
                <a:latin typeface="Segoe UI"/>
              </a:rPr>
              <a:t>Real coordinates. </a:t>
            </a:r>
            <a:r>
              <a:rPr sz="1350" b="0">
                <a:solidFill>
                  <a:srgbClr val="0F172A"/>
                </a:solidFill>
                <a:latin typeface="Segoe UI"/>
              </a:rPr>
              <a:t>Donors and hospitals can set an exact location via an interactive map picker (optional).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350" b="1">
                <a:solidFill>
                  <a:srgbClr val="1D4ED8"/>
                </a:solidFill>
                <a:latin typeface="Segoe UI"/>
              </a:rPr>
              <a:t>•  </a:t>
            </a:r>
            <a:r>
              <a:rPr sz="1350" b="1">
                <a:solidFill>
                  <a:srgbClr val="0F172A"/>
                </a:solidFill>
                <a:latin typeface="Segoe UI"/>
              </a:rPr>
              <a:t>Haversine great-circle distance. </a:t>
            </a:r>
            <a:r>
              <a:rPr sz="1350" b="0">
                <a:solidFill>
                  <a:srgbClr val="0F172A"/>
                </a:solidFill>
                <a:latin typeface="Segoe UI"/>
              </a:rPr>
              <a:t>Accurate km distance calculated directly between hospital and donor coordinates.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350" b="1">
                <a:solidFill>
                  <a:srgbClr val="1D4ED8"/>
                </a:solidFill>
                <a:latin typeface="Segoe UI"/>
              </a:rPr>
              <a:t>•  </a:t>
            </a:r>
            <a:r>
              <a:rPr sz="1350" b="1">
                <a:solidFill>
                  <a:srgbClr val="0F172A"/>
                </a:solidFill>
                <a:latin typeface="Segoe UI"/>
              </a:rPr>
              <a:t>Graceful fallback. </a:t>
            </a:r>
            <a:r>
              <a:rPr sz="1350" b="0">
                <a:solidFill>
                  <a:srgbClr val="0F172A"/>
                </a:solidFill>
                <a:latin typeface="Segoe UI"/>
              </a:rPr>
              <a:t>No coordinates set? The system falls back to district-level proximity or a neutral score — never breaks.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350" b="1">
                <a:solidFill>
                  <a:srgbClr val="1D4ED8"/>
                </a:solidFill>
                <a:latin typeface="Segoe UI"/>
              </a:rPr>
              <a:t>•  </a:t>
            </a:r>
            <a:r>
              <a:rPr sz="1350" b="1">
                <a:solidFill>
                  <a:srgbClr val="0F172A"/>
                </a:solidFill>
                <a:latin typeface="Segoe UI"/>
              </a:rPr>
              <a:t>Folded into matching. </a:t>
            </a:r>
            <a:r>
              <a:rPr sz="1350" b="0">
                <a:solidFill>
                  <a:srgbClr val="0F172A"/>
                </a:solidFill>
                <a:latin typeface="Segoe UI"/>
              </a:rPr>
              <a:t>Distance carries up to 35% of the match score for critical requests.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1463040"/>
            <a:ext cx="4754880" cy="4297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86600" y="164592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E3A8A"/>
                </a:solidFill>
                <a:latin typeface="Segoe UI"/>
              </a:rPr>
              <a:t>Travel-Category Bands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86600" y="2148840"/>
            <a:ext cx="4297680" cy="658368"/>
          </a:xfrm>
          <a:prstGeom prst="roundRect">
            <a:avLst>
              <a:gd name="adj" fmla="val 1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242048" y="2267712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2221992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F172A"/>
                </a:solidFill>
                <a:latin typeface="Segoe UI"/>
              </a:rPr>
              <a:t>Very Near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6960" y="2221992"/>
            <a:ext cx="1280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5B6B82"/>
                </a:solidFill>
                <a:latin typeface="Segoe UI"/>
              </a:rPr>
              <a:t>≤ 5 km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86600" y="2944368"/>
            <a:ext cx="4297680" cy="658368"/>
          </a:xfrm>
          <a:prstGeom prst="roundRect">
            <a:avLst>
              <a:gd name="adj" fmla="val 1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242048" y="3063240"/>
            <a:ext cx="420624" cy="420624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301752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F172A"/>
                </a:solidFill>
                <a:latin typeface="Segoe UI"/>
              </a:rPr>
              <a:t>Near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3017520"/>
            <a:ext cx="1280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5B6B82"/>
                </a:solidFill>
                <a:latin typeface="Segoe UI"/>
              </a:rPr>
              <a:t>≤ 15 km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86600" y="3739896"/>
            <a:ext cx="4297680" cy="658368"/>
          </a:xfrm>
          <a:prstGeom prst="roundRect">
            <a:avLst>
              <a:gd name="adj" fmla="val 1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242048" y="3858768"/>
            <a:ext cx="420624" cy="420624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8120" y="3813048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F172A"/>
                </a:solidFill>
                <a:latin typeface="Segoe UI"/>
              </a:rPr>
              <a:t>Moderate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3813048"/>
            <a:ext cx="1280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5B6B82"/>
                </a:solidFill>
                <a:latin typeface="Segoe UI"/>
              </a:rPr>
              <a:t>≤ 30 km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86600" y="4535424"/>
            <a:ext cx="4297680" cy="658368"/>
          </a:xfrm>
          <a:prstGeom prst="roundRect">
            <a:avLst>
              <a:gd name="adj" fmla="val 1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242048" y="4654296"/>
            <a:ext cx="420624" cy="420624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18120" y="4608576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F172A"/>
                </a:solidFill>
                <a:latin typeface="Segoe UI"/>
              </a:rPr>
              <a:t>Far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0" y="4608576"/>
            <a:ext cx="1280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5B6B82"/>
                </a:solidFill>
                <a:latin typeface="Segoe UI"/>
              </a:rPr>
              <a:t>&gt; 30 km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B6B82"/>
                </a:solidFill>
                <a:latin typeface="Segoe UI"/>
              </a:rPr>
              <a:t>LifeLink • AI-Based Blood Donor Management System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0" y="6547104"/>
            <a:ext cx="5669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5B6B82"/>
                </a:solidFill>
                <a:latin typeface="Segoe UI"/>
              </a:rPr>
              <a:t>Shown to hospitals directly on the matched-donors screen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1148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6B6D4"/>
                </a:solidFill>
                <a:latin typeface="Segoe UI"/>
              </a:rPr>
              <a:t>ENGAGEMENT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Segoe UI"/>
              </a:rPr>
              <a:t>Real-Time Notification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65760"/>
            <a:ext cx="685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C7D2FE"/>
                </a:solidFill>
                <a:latin typeface="Segoe UI"/>
              </a:rPr>
              <a:t>14 /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2984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5B6B82"/>
                </a:solidFill>
                <a:latin typeface="Segoe UI"/>
              </a:rPr>
              <a:t>Every role has an in-app notification centre with an unread badge — fully role-isolated and event-driven.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5147" y="1874519"/>
            <a:ext cx="352044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95147" y="1874519"/>
            <a:ext cx="3520440" cy="54864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5147" y="1874519"/>
            <a:ext cx="35204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Segoe UI"/>
              </a:rPr>
              <a:t>Donor receives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1179" y="2606040"/>
            <a:ext cx="3008376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180" b="1">
                <a:solidFill>
                  <a:srgbClr val="1D4ED8"/>
                </a:solidFill>
                <a:latin typeface="Segoe UI"/>
              </a:rPr>
              <a:t>•  </a:t>
            </a:r>
            <a:r>
              <a:rPr sz="1180" b="0">
                <a:solidFill>
                  <a:srgbClr val="0F172A"/>
                </a:solidFill>
                <a:latin typeface="Segoe UI"/>
              </a:rPr>
              <a:t>New matching blood request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180" b="1">
                <a:solidFill>
                  <a:srgbClr val="1D4ED8"/>
                </a:solidFill>
                <a:latin typeface="Segoe UI"/>
              </a:rPr>
              <a:t>•  </a:t>
            </a:r>
            <a:r>
              <a:rPr sz="1180" b="0">
                <a:solidFill>
                  <a:srgbClr val="0F172A"/>
                </a:solidFill>
                <a:latin typeface="Segoe UI"/>
              </a:rPr>
              <a:t>Appointment approved / rejected / rescheduled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180" b="1">
                <a:solidFill>
                  <a:srgbClr val="1D4ED8"/>
                </a:solidFill>
                <a:latin typeface="Segoe UI"/>
              </a:rPr>
              <a:t>•  </a:t>
            </a:r>
            <a:r>
              <a:rPr sz="1180" b="0">
                <a:solidFill>
                  <a:srgbClr val="0F172A"/>
                </a:solidFill>
                <a:latin typeface="Segoe UI"/>
              </a:rPr>
              <a:t>Donation completed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180" b="1">
                <a:solidFill>
                  <a:srgbClr val="1D4ED8"/>
                </a:solidFill>
                <a:latin typeface="Segoe UI"/>
              </a:rPr>
              <a:t>•  </a:t>
            </a:r>
            <a:r>
              <a:rPr sz="1180" b="0">
                <a:solidFill>
                  <a:srgbClr val="0F172A"/>
                </a:solidFill>
                <a:latin typeface="Segoe UI"/>
              </a:rPr>
              <a:t>Appointment reminder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5627" y="1874519"/>
            <a:ext cx="352044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35627" y="1874519"/>
            <a:ext cx="3520440" cy="54864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35627" y="1874519"/>
            <a:ext cx="35204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Segoe UI"/>
              </a:rPr>
              <a:t>Hospital receives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1659" y="2606040"/>
            <a:ext cx="3008376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180" b="1">
                <a:solidFill>
                  <a:srgbClr val="0E7490"/>
                </a:solidFill>
                <a:latin typeface="Segoe UI"/>
              </a:rPr>
              <a:t>•  </a:t>
            </a:r>
            <a:r>
              <a:rPr sz="1180" b="0">
                <a:solidFill>
                  <a:srgbClr val="0F172A"/>
                </a:solidFill>
                <a:latin typeface="Segoe UI"/>
              </a:rPr>
              <a:t>Donor responded to request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180" b="1">
                <a:solidFill>
                  <a:srgbClr val="0E7490"/>
                </a:solidFill>
                <a:latin typeface="Segoe UI"/>
              </a:rPr>
              <a:t>•  </a:t>
            </a:r>
            <a:r>
              <a:rPr sz="1180" b="0">
                <a:solidFill>
                  <a:srgbClr val="0F172A"/>
                </a:solidFill>
                <a:latin typeface="Segoe UI"/>
              </a:rPr>
              <a:t>New appointment booked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180" b="1">
                <a:solidFill>
                  <a:srgbClr val="0E7490"/>
                </a:solidFill>
                <a:latin typeface="Segoe UI"/>
              </a:rPr>
              <a:t>•  </a:t>
            </a:r>
            <a:r>
              <a:rPr sz="1180" b="0">
                <a:solidFill>
                  <a:srgbClr val="0F172A"/>
                </a:solidFill>
                <a:latin typeface="Segoe UI"/>
              </a:rPr>
              <a:t>Low / critical stock alert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180" b="1">
                <a:solidFill>
                  <a:srgbClr val="0E7490"/>
                </a:solidFill>
                <a:latin typeface="Segoe UI"/>
              </a:rPr>
              <a:t>•  </a:t>
            </a:r>
            <a:r>
              <a:rPr sz="1180" b="0">
                <a:solidFill>
                  <a:srgbClr val="0F172A"/>
                </a:solidFill>
                <a:latin typeface="Segoe UI"/>
              </a:rPr>
              <a:t>Stock replenished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76107" y="1874519"/>
            <a:ext cx="352044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76107" y="1874519"/>
            <a:ext cx="3520440" cy="54864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76107" y="1874519"/>
            <a:ext cx="35204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Segoe UI"/>
              </a:rPr>
              <a:t>Admin receives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2139" y="2606040"/>
            <a:ext cx="3008376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180" b="1">
                <a:solidFill>
                  <a:srgbClr val="16A34A"/>
                </a:solidFill>
                <a:latin typeface="Segoe UI"/>
              </a:rPr>
              <a:t>•  </a:t>
            </a:r>
            <a:r>
              <a:rPr sz="1180" b="0">
                <a:solidFill>
                  <a:srgbClr val="0F172A"/>
                </a:solidFill>
                <a:latin typeface="Segoe UI"/>
              </a:rPr>
              <a:t>New hospital registration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180" b="1">
                <a:solidFill>
                  <a:srgbClr val="16A34A"/>
                </a:solidFill>
                <a:latin typeface="Segoe UI"/>
              </a:rPr>
              <a:t>•  </a:t>
            </a:r>
            <a:r>
              <a:rPr sz="1180" b="0">
                <a:solidFill>
                  <a:srgbClr val="0F172A"/>
                </a:solidFill>
                <a:latin typeface="Segoe UI"/>
              </a:rPr>
              <a:t>Anomalous donor registration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180" b="1">
                <a:solidFill>
                  <a:srgbClr val="16A34A"/>
                </a:solidFill>
                <a:latin typeface="Segoe UI"/>
              </a:rPr>
              <a:t>•  </a:t>
            </a:r>
            <a:r>
              <a:rPr sz="1180" b="0">
                <a:solidFill>
                  <a:srgbClr val="0F172A"/>
                </a:solidFill>
                <a:latin typeface="Segoe UI"/>
              </a:rPr>
              <a:t>Critical shortage (any hospital)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180" b="1">
                <a:solidFill>
                  <a:srgbClr val="16A34A"/>
                </a:solidFill>
                <a:latin typeface="Segoe UI"/>
              </a:rPr>
              <a:t>•  </a:t>
            </a:r>
            <a:r>
              <a:rPr sz="1180" b="0">
                <a:solidFill>
                  <a:srgbClr val="0F172A"/>
                </a:solidFill>
                <a:latin typeface="Segoe UI"/>
              </a:rPr>
              <a:t>Donation completed (any hospital)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562356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1">
                <a:solidFill>
                  <a:srgbClr val="5B6B82"/>
                </a:solidFill>
                <a:latin typeface="Segoe UI"/>
              </a:rPr>
              <a:t>Notifications only fire on real state changes (e.g. a stock-tier change) — not spammed on every update.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B6B82"/>
                </a:solidFill>
                <a:latin typeface="Segoe UI"/>
              </a:rPr>
              <a:t>LifeLink • AI-Based Blood Donor Management System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1148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6B6D4"/>
                </a:solidFill>
                <a:latin typeface="Segoe UI"/>
              </a:rPr>
              <a:t>DATA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Segoe UI"/>
              </a:rPr>
              <a:t>Database / ER Diagram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65760"/>
            <a:ext cx="685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C7D2FE"/>
                </a:solidFill>
                <a:latin typeface="Segoe UI"/>
              </a:rPr>
              <a:t>15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00200"/>
            <a:ext cx="2331720" cy="1051560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80" b="1">
                <a:solidFill>
                  <a:srgbClr val="1E3A8A"/>
                </a:solidFill>
                <a:latin typeface="Segoe UI"/>
              </a:rPr>
              <a:t>Donor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3246120"/>
            <a:ext cx="2331720" cy="1051560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80" b="1">
                <a:solidFill>
                  <a:srgbClr val="1E3A8A"/>
                </a:solidFill>
                <a:latin typeface="Segoe UI"/>
              </a:rPr>
              <a:t>Hospital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4892040"/>
            <a:ext cx="2331720" cy="1051560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80" b="1">
                <a:solidFill>
                  <a:srgbClr val="1E3A8A"/>
                </a:solidFill>
                <a:latin typeface="Segoe UI"/>
              </a:rPr>
              <a:t>Admin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77639" y="2423160"/>
            <a:ext cx="2331720" cy="1051560"/>
          </a:xfrm>
          <a:prstGeom prst="roundRect">
            <a:avLst>
              <a:gd name="adj" fmla="val 12000"/>
            </a:avLst>
          </a:prstGeom>
          <a:solidFill>
            <a:srgbClr val="ECF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80" b="1">
                <a:solidFill>
                  <a:srgbClr val="0E7490"/>
                </a:solidFill>
                <a:latin typeface="Segoe UI"/>
              </a:rPr>
              <a:t>BloodRequest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77639" y="4069080"/>
            <a:ext cx="2331720" cy="1051560"/>
          </a:xfrm>
          <a:prstGeom prst="roundRect">
            <a:avLst>
              <a:gd name="adj" fmla="val 12000"/>
            </a:avLst>
          </a:prstGeom>
          <a:solidFill>
            <a:srgbClr val="ECF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80" b="1">
                <a:solidFill>
                  <a:srgbClr val="0E7490"/>
                </a:solidFill>
                <a:latin typeface="Segoe UI"/>
              </a:rPr>
              <a:t>DonorResponse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03720" y="1600200"/>
            <a:ext cx="2331720" cy="105156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80" b="1">
                <a:solidFill>
                  <a:srgbClr val="1E3A8A"/>
                </a:solidFill>
                <a:latin typeface="Segoe UI"/>
              </a:rPr>
              <a:t>Appointment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03720" y="3246120"/>
            <a:ext cx="2331720" cy="105156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80" b="1">
                <a:solidFill>
                  <a:srgbClr val="1E3A8A"/>
                </a:solidFill>
                <a:latin typeface="Segoe UI"/>
              </a:rPr>
              <a:t>Donation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03720" y="4892040"/>
            <a:ext cx="2331720" cy="105156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80" b="1">
                <a:solidFill>
                  <a:srgbClr val="1E3A8A"/>
                </a:solidFill>
                <a:latin typeface="Segoe UI"/>
              </a:rPr>
              <a:t>BloodInventory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46920" y="3246120"/>
            <a:ext cx="2331720" cy="1051560"/>
          </a:xfrm>
          <a:prstGeom prst="roundRect">
            <a:avLst>
              <a:gd name="adj" fmla="val 12000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80" b="1">
                <a:solidFill>
                  <a:srgbClr val="14532B"/>
                </a:solidFill>
                <a:latin typeface="Segoe UI"/>
              </a:rPr>
              <a:t>AiPrediction /
Notification /
ActivityLog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926079" y="2121408"/>
            <a:ext cx="1051560" cy="804672"/>
          </a:xfrm>
          <a:prstGeom prst="bentConnector3">
            <a:avLst/>
          </a:prstGeom>
          <a:ln w="1587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926079" y="3767328"/>
            <a:ext cx="1051560" cy="804672"/>
          </a:xfrm>
          <a:prstGeom prst="bentConnector3">
            <a:avLst/>
          </a:prstGeom>
          <a:ln w="1587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6309359" y="2121408"/>
            <a:ext cx="594361" cy="804672"/>
          </a:xfrm>
          <a:prstGeom prst="bentConnector3">
            <a:avLst/>
          </a:prstGeom>
          <a:ln w="1587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6309359" y="3767328"/>
            <a:ext cx="594361" cy="804672"/>
          </a:xfrm>
          <a:prstGeom prst="bentConnector3">
            <a:avLst/>
          </a:prstGeom>
          <a:ln w="1587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235440" y="2121408"/>
            <a:ext cx="411480" cy="1645920"/>
          </a:xfrm>
          <a:prstGeom prst="bentConnector3">
            <a:avLst/>
          </a:prstGeom>
          <a:ln w="1587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235440" y="3767328"/>
            <a:ext cx="411480" cy="0"/>
          </a:xfrm>
          <a:prstGeom prst="bentConnector3">
            <a:avLst/>
          </a:prstGeom>
          <a:ln w="1587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9235440" y="4297680"/>
            <a:ext cx="411480" cy="1097280"/>
          </a:xfrm>
          <a:prstGeom prst="bentConnector3">
            <a:avLst/>
          </a:prstGeom>
          <a:ln w="1587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94360" y="612648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1">
                <a:solidFill>
                  <a:srgbClr val="5B6B82"/>
                </a:solidFill>
                <a:latin typeface="Segoe UI"/>
              </a:rPr>
              <a:t>12 core tables in total — including migrations for AI predictions, notifications, blood inventory logs, and activity logs, each with role-scoped access.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1148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6B6D4"/>
                </a:solidFill>
                <a:latin typeface="Segoe UI"/>
              </a:rPr>
              <a:t>PROTECTION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Segoe UI"/>
              </a:rPr>
              <a:t>Security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65760"/>
            <a:ext cx="685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C7D2FE"/>
                </a:solidFill>
                <a:latin typeface="Segoe UI"/>
              </a:rPr>
              <a:t>16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417320"/>
            <a:ext cx="3429000" cy="941832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22376" y="1545336"/>
            <a:ext cx="365760" cy="36576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490472"/>
            <a:ext cx="26974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60" b="1" i="0">
                <a:solidFill>
                  <a:srgbClr val="0F172A"/>
                </a:solidFill>
                <a:latin typeface="Segoe UI"/>
              </a:rPr>
              <a:t>Password Hashing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783080"/>
            <a:ext cx="2697480" cy="5212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60" b="0" i="0">
                <a:solidFill>
                  <a:srgbClr val="5B6B82"/>
                </a:solidFill>
                <a:latin typeface="Segoe UI"/>
              </a:rPr>
              <a:t>Bcrypt hashing for every account type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69664" y="1417320"/>
            <a:ext cx="3429000" cy="941832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297680" y="1545336"/>
            <a:ext cx="365760" cy="36576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64024" y="1490472"/>
            <a:ext cx="26974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60" b="1" i="0">
                <a:solidFill>
                  <a:srgbClr val="0F172A"/>
                </a:solidFill>
                <a:latin typeface="Segoe UI"/>
              </a:rPr>
              <a:t>CSRF Protection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64024" y="1783080"/>
            <a:ext cx="2697480" cy="5212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60" b="0" i="0">
                <a:solidFill>
                  <a:srgbClr val="5B6B82"/>
                </a:solidFill>
                <a:latin typeface="Segoe UI"/>
              </a:rPr>
              <a:t>Token verification on every form submission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44968" y="1417320"/>
            <a:ext cx="3429000" cy="941832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872984" y="1545336"/>
            <a:ext cx="365760" cy="36576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8" y="1490472"/>
            <a:ext cx="26974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60" b="1" i="0">
                <a:solidFill>
                  <a:srgbClr val="0F172A"/>
                </a:solidFill>
                <a:latin typeface="Segoe UI"/>
              </a:rPr>
              <a:t>Guard-Isolated Sessions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9328" y="1783080"/>
            <a:ext cx="2697480" cy="5212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60" b="0" i="0">
                <a:solidFill>
                  <a:srgbClr val="5B6B82"/>
                </a:solidFill>
                <a:latin typeface="Segoe UI"/>
              </a:rPr>
              <a:t>Donor / Hospital / Admin sessions cannot cross-access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2505456"/>
            <a:ext cx="3429000" cy="941832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22376" y="2633472"/>
            <a:ext cx="365760" cy="36576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2578608"/>
            <a:ext cx="26974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60" b="1" i="0">
                <a:solidFill>
                  <a:srgbClr val="0F172A"/>
                </a:solidFill>
                <a:latin typeface="Segoe UI"/>
              </a:rPr>
              <a:t>Rate Limiting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2871216"/>
            <a:ext cx="2697480" cy="5212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60" b="0" i="0">
                <a:solidFill>
                  <a:srgbClr val="5B6B82"/>
                </a:solidFill>
                <a:latin typeface="Segoe UI"/>
              </a:rPr>
              <a:t>Login 5/min, Register 10/hr, Chat 15/min, Requests 10/min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69664" y="2505456"/>
            <a:ext cx="3429000" cy="941832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297680" y="2633472"/>
            <a:ext cx="365760" cy="36576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64024" y="2578608"/>
            <a:ext cx="26974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60" b="1" i="0">
                <a:solidFill>
                  <a:srgbClr val="0F172A"/>
                </a:solidFill>
                <a:latin typeface="Segoe UI"/>
              </a:rPr>
              <a:t>Security Headers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64024" y="2871216"/>
            <a:ext cx="2697480" cy="5212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60" b="0" i="0">
                <a:solidFill>
                  <a:srgbClr val="5B6B82"/>
                </a:solidFill>
                <a:latin typeface="Segoe UI"/>
              </a:rPr>
              <a:t>CSP, X-Frame-Options, HSTS, Permissions-Policy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44968" y="2505456"/>
            <a:ext cx="3429000" cy="941832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872984" y="2633472"/>
            <a:ext cx="365760" cy="36576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39328" y="2578608"/>
            <a:ext cx="26974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60" b="1" i="0">
                <a:solidFill>
                  <a:srgbClr val="0F172A"/>
                </a:solidFill>
                <a:latin typeface="Segoe UI"/>
              </a:rPr>
              <a:t>Session Hardening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39328" y="2871216"/>
            <a:ext cx="2697480" cy="5212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60" b="0" i="0">
                <a:solidFill>
                  <a:srgbClr val="5B6B82"/>
                </a:solidFill>
                <a:latin typeface="Segoe UI"/>
              </a:rPr>
              <a:t>Session ID regenerated on login, invalidated on logout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4360" y="3593591"/>
            <a:ext cx="3429000" cy="941832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22376" y="3721607"/>
            <a:ext cx="365760" cy="36576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88720" y="3666744"/>
            <a:ext cx="26974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60" b="1" i="0">
                <a:solidFill>
                  <a:srgbClr val="0F172A"/>
                </a:solidFill>
                <a:latin typeface="Segoe UI"/>
              </a:rPr>
              <a:t>Password Re-confirmation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88720" y="3959352"/>
            <a:ext cx="2697480" cy="5212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60" b="0" i="0">
                <a:solidFill>
                  <a:srgbClr val="5B6B82"/>
                </a:solidFill>
                <a:latin typeface="Segoe UI"/>
              </a:rPr>
              <a:t>Current password required before any change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169664" y="3593591"/>
            <a:ext cx="3429000" cy="941832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297680" y="3721607"/>
            <a:ext cx="365760" cy="36576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64024" y="3666744"/>
            <a:ext cx="26974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60" b="1" i="0">
                <a:solidFill>
                  <a:srgbClr val="0F172A"/>
                </a:solidFill>
                <a:latin typeface="Segoe UI"/>
              </a:rPr>
              <a:t>File Upload Validation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64024" y="3959352"/>
            <a:ext cx="2697480" cy="5212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60" b="0" i="0">
                <a:solidFill>
                  <a:srgbClr val="5B6B82"/>
                </a:solidFill>
                <a:latin typeface="Segoe UI"/>
              </a:rPr>
              <a:t>MIME/extension allow-list, SVG blocked, size-limited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744968" y="3593591"/>
            <a:ext cx="3429000" cy="941832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872984" y="3721607"/>
            <a:ext cx="365760" cy="36576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39328" y="3666744"/>
            <a:ext cx="26974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60" b="1" i="0">
                <a:solidFill>
                  <a:srgbClr val="0F172A"/>
                </a:solidFill>
                <a:latin typeface="Segoe UI"/>
              </a:rPr>
              <a:t>Unauthorized-Access Logging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39328" y="3959352"/>
            <a:ext cx="2697480" cy="5212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60" b="0" i="0">
                <a:solidFill>
                  <a:srgbClr val="5B6B82"/>
                </a:solidFill>
                <a:latin typeface="Segoe UI"/>
              </a:rPr>
              <a:t>Every 401 / 403 event centrally logged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B6B82"/>
                </a:solidFill>
                <a:latin typeface="Segoe UI"/>
              </a:rPr>
              <a:t>LifeLink • AI-Based Blood Donor Management System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35040" y="6547104"/>
            <a:ext cx="5669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5B6B82"/>
                </a:solidFill>
                <a:latin typeface="Segoe UI"/>
              </a:rPr>
              <a:t>Verified by a dedicated automated security test suite (9 test files)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1148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6B6D4"/>
                </a:solidFill>
                <a:latin typeface="Segoe UI"/>
              </a:rPr>
              <a:t>QUALITY ASSURANCE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Segoe UI"/>
              </a:rPr>
              <a:t>Testing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65760"/>
            <a:ext cx="685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C7D2FE"/>
                </a:solidFill>
                <a:latin typeface="Segoe UI"/>
              </a:rPr>
              <a:t>17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508760"/>
            <a:ext cx="2468880" cy="1554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600200"/>
            <a:ext cx="2249424" cy="8549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1D4ED8"/>
                </a:solidFill>
                <a:latin typeface="Segoe UI"/>
              </a:rPr>
              <a:t>385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441448"/>
            <a:ext cx="2286000" cy="5440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5B6B82"/>
                </a:solidFill>
                <a:latin typeface="Segoe UI"/>
              </a:rPr>
              <a:t>Automated tests passed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1508760"/>
            <a:ext cx="2468880" cy="1554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55848" y="1600200"/>
            <a:ext cx="2249424" cy="8549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0E7490"/>
                </a:solidFill>
                <a:latin typeface="Segoe UI"/>
              </a:rPr>
              <a:t>885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2441448"/>
            <a:ext cx="2286000" cy="5440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5B6B82"/>
                </a:solidFill>
                <a:latin typeface="Segoe UI"/>
              </a:rPr>
              <a:t>Assertions verified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97880" y="1508760"/>
            <a:ext cx="2468880" cy="1554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07608" y="1600200"/>
            <a:ext cx="2249424" cy="8549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16A34A"/>
                </a:solidFill>
                <a:latin typeface="Segoe UI"/>
              </a:rPr>
              <a:t>55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9320" y="2441448"/>
            <a:ext cx="2286000" cy="5440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5B6B82"/>
                </a:solidFill>
                <a:latin typeface="Segoe UI"/>
              </a:rPr>
              <a:t>Feature test files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49640" y="1508760"/>
            <a:ext cx="2651760" cy="1554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59367" y="1600200"/>
            <a:ext cx="2432304" cy="8549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1E3A8A"/>
                </a:solidFill>
                <a:latin typeface="Segoe UI"/>
              </a:rPr>
              <a:t>100%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41080" y="2441448"/>
            <a:ext cx="2468879" cy="5440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5B6B82"/>
                </a:solidFill>
                <a:latin typeface="Segoe UI"/>
              </a:rPr>
              <a:t>Suite passing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333756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E3A8A"/>
                </a:solidFill>
                <a:latin typeface="Segoe UI"/>
              </a:rPr>
              <a:t>Coverage across every module: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3794760"/>
            <a:ext cx="539496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250" b="1">
                <a:solidFill>
                  <a:srgbClr val="1D4ED8"/>
                </a:solidFill>
                <a:latin typeface="Segoe UI"/>
              </a:rPr>
              <a:t>•  </a:t>
            </a:r>
            <a:r>
              <a:rPr sz="1250" b="0">
                <a:solidFill>
                  <a:srgbClr val="0F172A"/>
                </a:solidFill>
                <a:latin typeface="Segoe UI"/>
              </a:rPr>
              <a:t>Authentication &amp; cross-role guard isolation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250" b="1">
                <a:solidFill>
                  <a:srgbClr val="1D4ED8"/>
                </a:solidFill>
                <a:latin typeface="Segoe UI"/>
              </a:rPr>
              <a:t>•  </a:t>
            </a:r>
            <a:r>
              <a:rPr sz="1250" b="0">
                <a:solidFill>
                  <a:srgbClr val="0F172A"/>
                </a:solidFill>
                <a:latin typeface="Segoe UI"/>
              </a:rPr>
              <a:t>Donor–hospital matching logic &amp; scoring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250" b="1">
                <a:solidFill>
                  <a:srgbClr val="1D4ED8"/>
                </a:solidFill>
                <a:latin typeface="Segoe UI"/>
              </a:rPr>
              <a:t>•  </a:t>
            </a:r>
            <a:r>
              <a:rPr sz="1250" b="0">
                <a:solidFill>
                  <a:srgbClr val="0F172A"/>
                </a:solidFill>
                <a:latin typeface="Segoe UI"/>
              </a:rPr>
              <a:t>AI prediction logging &amp; audit trail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250" b="1">
                <a:solidFill>
                  <a:srgbClr val="1D4ED8"/>
                </a:solidFill>
                <a:latin typeface="Segoe UI"/>
              </a:rPr>
              <a:t>•  </a:t>
            </a:r>
            <a:r>
              <a:rPr sz="1250" b="0">
                <a:solidFill>
                  <a:srgbClr val="0F172A"/>
                </a:solidFill>
                <a:latin typeface="Segoe UI"/>
              </a:rPr>
              <a:t>Reports, export, and localization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3794760"/>
            <a:ext cx="539496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250" b="1">
                <a:solidFill>
                  <a:srgbClr val="1D4ED8"/>
                </a:solidFill>
                <a:latin typeface="Segoe UI"/>
              </a:rPr>
              <a:t>•  </a:t>
            </a:r>
            <a:r>
              <a:rPr sz="1250" b="0">
                <a:solidFill>
                  <a:srgbClr val="0F172A"/>
                </a:solidFill>
                <a:latin typeface="Segoe UI"/>
              </a:rPr>
              <a:t>Security: CSRF, rate limits, headers, sessions, uploads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250" b="1">
                <a:solidFill>
                  <a:srgbClr val="1D4ED8"/>
                </a:solidFill>
                <a:latin typeface="Segoe UI"/>
              </a:rPr>
              <a:t>•  </a:t>
            </a:r>
            <a:r>
              <a:rPr sz="1250" b="0">
                <a:solidFill>
                  <a:srgbClr val="0F172A"/>
                </a:solidFill>
                <a:latin typeface="Segoe UI"/>
              </a:rPr>
              <a:t>Notifications, appointments, and inventory transitions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250" b="1">
                <a:solidFill>
                  <a:srgbClr val="1D4ED8"/>
                </a:solidFill>
                <a:latin typeface="Segoe UI"/>
              </a:rPr>
              <a:t>•  </a:t>
            </a:r>
            <a:r>
              <a:rPr sz="1250" b="0">
                <a:solidFill>
                  <a:srgbClr val="0F172A"/>
                </a:solidFill>
                <a:latin typeface="Segoe UI"/>
              </a:rPr>
              <a:t>Location / distance service accuracy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250" b="1">
                <a:solidFill>
                  <a:srgbClr val="1D4ED8"/>
                </a:solidFill>
                <a:latin typeface="Segoe UI"/>
              </a:rPr>
              <a:t>•  </a:t>
            </a:r>
            <a:r>
              <a:rPr sz="1250" b="0">
                <a:solidFill>
                  <a:srgbClr val="0F172A"/>
                </a:solidFill>
                <a:latin typeface="Segoe UI"/>
              </a:rPr>
              <a:t>Activity logging across every module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B6B82"/>
                </a:solidFill>
                <a:latin typeface="Segoe UI"/>
              </a:rPr>
              <a:t>LifeLink • AI-Based Blood Donor Management System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0" y="6547104"/>
            <a:ext cx="5669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5B6B82"/>
                </a:solidFill>
                <a:latin typeface="Segoe UI"/>
              </a:rPr>
              <a:t>php artisan test — last verified run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1148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6B6D4"/>
                </a:solidFill>
                <a:latin typeface="Segoe UI"/>
              </a:rPr>
              <a:t>LIVE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Segoe UI"/>
              </a:rPr>
              <a:t>Key Dashboards &amp; UI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65760"/>
            <a:ext cx="685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C7D2FE"/>
                </a:solidFill>
                <a:latin typeface="Segoe UI"/>
              </a:rPr>
              <a:t>18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5440679" cy="255117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23_hospital_dashboar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417320"/>
            <a:ext cx="5349240" cy="21488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" y="3621024"/>
            <a:ext cx="5349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1E3A8A"/>
                </a:solidFill>
                <a:latin typeface="Segoe UI"/>
              </a:rPr>
              <a:t>Hospital Dashboard — Create Request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440679" cy="255117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g17_admin_dashboar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417320"/>
            <a:ext cx="5349240" cy="21488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263640" y="3621024"/>
            <a:ext cx="5349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1E3A8A"/>
                </a:solidFill>
                <a:latin typeface="Segoe UI"/>
              </a:rPr>
              <a:t>Admin Dashboard — AI Demand Forecast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023360"/>
            <a:ext cx="5440679" cy="255117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fig27_ai_donor_matching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4069080"/>
            <a:ext cx="5349240" cy="21488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94360" y="6272784"/>
            <a:ext cx="5349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1E3A8A"/>
                </a:solidFill>
                <a:latin typeface="Segoe UI"/>
              </a:rPr>
              <a:t>AI-Ranked Donor Matching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023360"/>
            <a:ext cx="5440679" cy="255117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fig28_admin_reports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4069080"/>
            <a:ext cx="5349240" cy="214884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263640" y="6272784"/>
            <a:ext cx="5349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1E3A8A"/>
                </a:solidFill>
                <a:latin typeface="Segoe UI"/>
              </a:rPr>
              <a:t>Reports &amp; Analytics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B6B82"/>
                </a:solidFill>
                <a:latin typeface="Segoe UI"/>
              </a:rPr>
              <a:t>LifeLink • AI-Based Blood Donor Management System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6547104"/>
            <a:ext cx="5669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5B6B82"/>
                </a:solidFill>
                <a:latin typeface="Segoe UI"/>
              </a:rPr>
              <a:t>Real screenshots captured from the running application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1148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6B6D4"/>
                </a:solidFill>
                <a:latin typeface="Segoe UI"/>
              </a:rPr>
              <a:t>VALUE DELIVERED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Segoe UI"/>
              </a:rPr>
              <a:t>Benefits / Expected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65760"/>
            <a:ext cx="685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C7D2FE"/>
                </a:solidFill>
                <a:latin typeface="Segoe UI"/>
              </a:rPr>
              <a:t>19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463040"/>
            <a:ext cx="3520440" cy="14630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463040"/>
            <a:ext cx="82296" cy="146304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609344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E3A8A"/>
                </a:solidFill>
                <a:latin typeface="Segoe UI"/>
              </a:rPr>
              <a:t>Faster emergency response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066544"/>
            <a:ext cx="3063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80" b="0" i="0">
                <a:solidFill>
                  <a:srgbClr val="5B6B82"/>
                </a:solidFill>
                <a:latin typeface="Segoe UI"/>
              </a:rPr>
              <a:t>Ranked, explainable donor matches replace slow manual search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463040"/>
            <a:ext cx="3520440" cy="14630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463040"/>
            <a:ext cx="82296" cy="146304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609344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E3A8A"/>
                </a:solidFill>
                <a:latin typeface="Segoe UI"/>
              </a:rPr>
              <a:t>Proactive stock planning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066544"/>
            <a:ext cx="3063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80" b="0" i="0">
                <a:solidFill>
                  <a:srgbClr val="5B6B82"/>
                </a:solidFill>
                <a:latin typeface="Segoe UI"/>
              </a:rPr>
              <a:t>Forecasting + threshold alerts reduce wastage and shortages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463040"/>
            <a:ext cx="3520440" cy="14630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1463040"/>
            <a:ext cx="82296" cy="146304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1609344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E3A8A"/>
                </a:solidFill>
                <a:latin typeface="Segoe UI"/>
              </a:rPr>
              <a:t>Consistent, auditable decisions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2066544"/>
            <a:ext cx="3063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80" b="0" i="0">
                <a:solidFill>
                  <a:srgbClr val="5B6B82"/>
                </a:solidFill>
                <a:latin typeface="Segoe UI"/>
              </a:rPr>
              <a:t>Every AI prediction is logged — nothing is a hidden black box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3154680"/>
            <a:ext cx="3520440" cy="14630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4360" y="3154680"/>
            <a:ext cx="82296" cy="146304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300984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E3A8A"/>
                </a:solidFill>
                <a:latin typeface="Segoe UI"/>
              </a:rPr>
              <a:t>Lower administrative burden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3758184"/>
            <a:ext cx="3063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80" b="0" i="0">
                <a:solidFill>
                  <a:srgbClr val="5B6B82"/>
                </a:solidFill>
                <a:latin typeface="Segoe UI"/>
              </a:rPr>
              <a:t>Automated notifications, reports, and activity logs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43400" y="3154680"/>
            <a:ext cx="3520440" cy="14630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43400" y="3154680"/>
            <a:ext cx="82296" cy="146304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17720" y="3300984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E3A8A"/>
                </a:solidFill>
                <a:latin typeface="Segoe UI"/>
              </a:rPr>
              <a:t>Wider accessibility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20" y="3758184"/>
            <a:ext cx="3063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80" b="0" i="0">
                <a:solidFill>
                  <a:srgbClr val="5B6B82"/>
                </a:solidFill>
                <a:latin typeface="Segoe UI"/>
              </a:rPr>
              <a:t>Full interface available in English, Sinhala, and Tamil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92440" y="3154680"/>
            <a:ext cx="3520440" cy="14630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92440" y="3154680"/>
            <a:ext cx="82296" cy="146304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66760" y="3300984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E3A8A"/>
                </a:solidFill>
                <a:latin typeface="Segoe UI"/>
              </a:rPr>
              <a:t>Data-backed confidence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3758184"/>
            <a:ext cx="3063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80" b="0" i="0">
                <a:solidFill>
                  <a:srgbClr val="5B6B82"/>
                </a:solidFill>
                <a:latin typeface="Segoe UI"/>
              </a:rPr>
              <a:t>385 automated tests validate correctness across every module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B6B82"/>
                </a:solidFill>
                <a:latin typeface="Segoe UI"/>
              </a:rPr>
              <a:t>LifeLink • AI-Based Blood Donor Management System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1148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6B6D4"/>
                </a:solidFill>
                <a:latin typeface="Segoe UI"/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Segoe UI"/>
              </a:rPr>
              <a:t>Future Enhancements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65760"/>
            <a:ext cx="685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C7D2FE"/>
                </a:solidFill>
                <a:latin typeface="Segoe UI"/>
              </a:rPr>
              <a:t>20 /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463040"/>
            <a:ext cx="3520440" cy="14630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463040"/>
            <a:ext cx="82296" cy="146304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609344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E3A8A"/>
                </a:solidFill>
                <a:latin typeface="Segoe UI"/>
              </a:rPr>
              <a:t>Real donor data partnership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066544"/>
            <a:ext cx="3063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</a:pPr>
            <a:r>
              <a:rPr sz="1060" b="0" i="0">
                <a:solidFill>
                  <a:srgbClr val="5B6B82"/>
                </a:solidFill>
                <a:latin typeface="Segoe UI"/>
              </a:rPr>
              <a:t>Retrain models on real, anonymised donor records (currently synthetic training data)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463040"/>
            <a:ext cx="3520440" cy="14630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463040"/>
            <a:ext cx="82296" cy="146304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609344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E3A8A"/>
                </a:solidFill>
                <a:latin typeface="Segoe UI"/>
              </a:rPr>
              <a:t>Formal security audit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066544"/>
            <a:ext cx="3063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</a:pPr>
            <a:r>
              <a:rPr sz="1060" b="0" i="0">
                <a:solidFill>
                  <a:srgbClr val="5B6B82"/>
                </a:solidFill>
                <a:latin typeface="Segoe UI"/>
              </a:rPr>
              <a:t>Independent penetration testing before any real deployment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463040"/>
            <a:ext cx="3520440" cy="14630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1463040"/>
            <a:ext cx="82296" cy="146304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1609344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E3A8A"/>
                </a:solidFill>
                <a:latin typeface="Segoe UI"/>
              </a:rPr>
              <a:t>MySQL migration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2066544"/>
            <a:ext cx="3063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</a:pPr>
            <a:r>
              <a:rPr sz="1060" b="0" i="0">
                <a:solidFill>
                  <a:srgbClr val="5B6B82"/>
                </a:solidFill>
                <a:latin typeface="Segoe UI"/>
              </a:rPr>
              <a:t>Move from the SQLite development database to the proposed production MySQL setup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3154680"/>
            <a:ext cx="3520440" cy="14630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4360" y="3154680"/>
            <a:ext cx="82296" cy="146304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300984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E3A8A"/>
                </a:solidFill>
                <a:latin typeface="Segoe UI"/>
              </a:rPr>
              <a:t>Mobile application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3758184"/>
            <a:ext cx="3063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</a:pPr>
            <a:r>
              <a:rPr sz="1060" b="0" i="0">
                <a:solidFill>
                  <a:srgbClr val="5B6B82"/>
                </a:solidFill>
                <a:latin typeface="Segoe UI"/>
              </a:rPr>
              <a:t>Extend donor access via a dedicated mobile app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43400" y="3154680"/>
            <a:ext cx="3520440" cy="14630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43400" y="3154680"/>
            <a:ext cx="82296" cy="146304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17720" y="3300984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E3A8A"/>
                </a:solidFill>
                <a:latin typeface="Segoe UI"/>
              </a:rPr>
              <a:t>SMS / email outreach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20" y="3758184"/>
            <a:ext cx="3063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</a:pPr>
            <a:r>
              <a:rPr sz="1060" b="0" i="0">
                <a:solidFill>
                  <a:srgbClr val="5B6B82"/>
                </a:solidFill>
                <a:latin typeface="Segoe UI"/>
              </a:rPr>
              <a:t>Extend today's in-app notifications to SMS and email channels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92440" y="3154680"/>
            <a:ext cx="3520440" cy="14630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92440" y="3154680"/>
            <a:ext cx="82296" cy="146304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66760" y="3300984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E3A8A"/>
                </a:solidFill>
                <a:latin typeface="Segoe UI"/>
              </a:rPr>
              <a:t>Forecast backtesting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3758184"/>
            <a:ext cx="3063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</a:pPr>
            <a:r>
              <a:rPr sz="1060" b="0" i="0">
                <a:solidFill>
                  <a:srgbClr val="5B6B82"/>
                </a:solidFill>
                <a:latin typeface="Segoe UI"/>
              </a:rPr>
              <a:t>Formal MAPE evaluation of demand forecasts against held-out history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B6B82"/>
                </a:solidFill>
                <a:latin typeface="Segoe UI"/>
              </a:rPr>
              <a:t>LifeLink • AI-Based Blood Donor Management System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-1645920"/>
            <a:ext cx="4572000" cy="4572000"/>
          </a:xfrm>
          <a:prstGeom prst="ellipse">
            <a:avLst/>
          </a:prstGeom>
          <a:solidFill>
            <a:srgbClr val="2440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6B6D4"/>
                </a:solidFill>
                <a:latin typeface="Segoe UI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6868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FFFFFF"/>
                </a:solidFill>
                <a:latin typeface="Segoe UI"/>
              </a:rPr>
              <a:t>A complete, working AI-driven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768096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500" b="1">
                <a:solidFill>
                  <a:srgbClr val="06B6D4"/>
                </a:solidFill>
                <a:latin typeface="Segoe UI"/>
              </a:rPr>
              <a:t>•  </a:t>
            </a:r>
            <a:r>
              <a:rPr sz="1500" b="0">
                <a:solidFill>
                  <a:srgbClr val="FFFFFF"/>
                </a:solidFill>
                <a:latin typeface="Segoe UI"/>
              </a:rPr>
              <a:t>Full three-role portal (Donor, Hospital, Admin) with isolated authentication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500" b="1">
                <a:solidFill>
                  <a:srgbClr val="06B6D4"/>
                </a:solidFill>
                <a:latin typeface="Segoe UI"/>
              </a:rPr>
              <a:t>•  </a:t>
            </a:r>
            <a:r>
              <a:rPr sz="1500" b="0">
                <a:solidFill>
                  <a:srgbClr val="FFFFFF"/>
                </a:solidFill>
                <a:latin typeface="Segoe UI"/>
              </a:rPr>
              <a:t>Six evaluated ML models plus a context-aware chatbot — not a concept demo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500" b="1">
                <a:solidFill>
                  <a:srgbClr val="06B6D4"/>
                </a:solidFill>
                <a:latin typeface="Segoe UI"/>
              </a:rPr>
              <a:t>•  </a:t>
            </a:r>
            <a:r>
              <a:rPr sz="1500" b="0">
                <a:solidFill>
                  <a:srgbClr val="FFFFFF"/>
                </a:solidFill>
                <a:latin typeface="Segoe UI"/>
              </a:rPr>
              <a:t>Explainable, urgency-weighted donor matching with real geographic distance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500" b="1">
                <a:solidFill>
                  <a:srgbClr val="06B6D4"/>
                </a:solidFill>
                <a:latin typeface="Segoe UI"/>
              </a:rPr>
              <a:t>•  </a:t>
            </a:r>
            <a:r>
              <a:rPr sz="1500" b="0">
                <a:solidFill>
                  <a:srgbClr val="FFFFFF"/>
                </a:solidFill>
                <a:latin typeface="Segoe UI"/>
              </a:rPr>
              <a:t>Inventory management, real-time notifications, and full activity auditing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500" b="1">
                <a:solidFill>
                  <a:srgbClr val="06B6D4"/>
                </a:solidFill>
                <a:latin typeface="Segoe UI"/>
              </a:rPr>
              <a:t>•  </a:t>
            </a:r>
            <a:r>
              <a:rPr sz="1500" b="0">
                <a:solidFill>
                  <a:srgbClr val="FFFFFF"/>
                </a:solidFill>
                <a:latin typeface="Segoe UI"/>
              </a:rPr>
              <a:t>Security-hardened and validated by 385 automated tests (885 assertions)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95360" y="1965960"/>
            <a:ext cx="3017520" cy="3108960"/>
          </a:xfrm>
          <a:prstGeom prst="roundRect">
            <a:avLst>
              <a:gd name="adj" fmla="val 8000"/>
            </a:avLst>
          </a:prstGeom>
          <a:solidFill>
            <a:srgbClr val="2746A8"/>
          </a:solidFill>
          <a:ln w="12700">
            <a:solidFill>
              <a:srgbClr val="3B5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23960" y="2194560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6B6D4"/>
                </a:solidFill>
                <a:latin typeface="Segoe UI"/>
              </a:rPr>
              <a:t>By the numbers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23960" y="2697480"/>
            <a:ext cx="2560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23960" y="3154680"/>
            <a:ext cx="2560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C7D2FE"/>
                </a:solidFill>
                <a:latin typeface="Segoe UI"/>
              </a:rPr>
              <a:t>ML models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23960" y="3593592"/>
            <a:ext cx="2560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23960" y="4050791"/>
            <a:ext cx="2560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C7D2FE"/>
                </a:solidFill>
                <a:latin typeface="Segoe UI"/>
              </a:rPr>
              <a:t>user portals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23960" y="4489704"/>
            <a:ext cx="2560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Segoe UI"/>
              </a:rPr>
              <a:t>385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23960" y="4946904"/>
            <a:ext cx="2560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C7D2FE"/>
                </a:solidFill>
                <a:latin typeface="Segoe UI"/>
              </a:rPr>
              <a:t>automated tests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23960" y="5385816"/>
            <a:ext cx="2560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23960" y="5843016"/>
            <a:ext cx="2560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C7D2FE"/>
                </a:solidFill>
                <a:latin typeface="Segoe UI"/>
              </a:rPr>
              <a:t>languages supported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80644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06B6D4"/>
                </a:solidFill>
                <a:latin typeface="Segoe UI"/>
              </a:rPr>
              <a:t>Thank you — 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